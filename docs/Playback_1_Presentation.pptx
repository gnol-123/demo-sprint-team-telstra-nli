
<file path=[Content_Types].xml><?xml version="1.0" encoding="utf-8"?>
<Types xmlns="http://schemas.openxmlformats.org/package/2006/content-types">
  <Default Extension="jpeg" ContentType="image/jpeg"/>
  <Default Extension="jpg" ContentType="image/jpeg"/>
  <Default Extension="org&amp;utm_campaign=index&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4" r:id="rId1"/>
  </p:sldMasterIdLst>
  <p:notesMasterIdLst>
    <p:notesMasterId r:id="rId15"/>
  </p:notesMasterIdLst>
  <p:sldIdLst>
    <p:sldId id="256" r:id="rId2"/>
    <p:sldId id="257" r:id="rId3"/>
    <p:sldId id="258" r:id="rId4"/>
    <p:sldId id="259" r:id="rId5"/>
    <p:sldId id="261" r:id="rId6"/>
    <p:sldId id="262" r:id="rId7"/>
    <p:sldId id="263" r:id="rId8"/>
    <p:sldId id="266" r:id="rId9"/>
    <p:sldId id="265" r:id="rId10"/>
    <p:sldId id="267" r:id="rId11"/>
    <p:sldId id="271"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146"/>
    <a:srgbClr val="114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9"/>
    <p:restoredTop sz="72534"/>
  </p:normalViewPr>
  <p:slideViewPr>
    <p:cSldViewPr snapToGrid="0">
      <p:cViewPr varScale="1">
        <p:scale>
          <a:sx n="90" d="100"/>
          <a:sy n="90" d="100"/>
        </p:scale>
        <p:origin x="8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6E1E41-FB7E-5C48-8F66-5F8A4099AE96}"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BBA5B-07BE-4545-A668-E64ED402EA3A}" type="slidenum">
              <a:rPr lang="en-US" smtClean="0"/>
              <a:t>‹#›</a:t>
            </a:fld>
            <a:endParaRPr lang="en-US"/>
          </a:p>
        </p:txBody>
      </p:sp>
    </p:spTree>
    <p:extLst>
      <p:ext uri="{BB962C8B-B14F-4D97-AF65-F5344CB8AC3E}">
        <p14:creationId xmlns:p14="http://schemas.microsoft.com/office/powerpoint/2010/main" val="85125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Hi everyone, I'm Salman, PM for Team 17. My teammates are Ary, Aiza, Luka and Turin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EA5BBA5B-07BE-4545-A668-E64ED402EA3A}" type="slidenum">
              <a:rPr lang="en-US" smtClean="0"/>
              <a:t>1</a:t>
            </a:fld>
            <a:endParaRPr lang="en-US"/>
          </a:p>
        </p:txBody>
      </p:sp>
    </p:spTree>
    <p:extLst>
      <p:ext uri="{BB962C8B-B14F-4D97-AF65-F5344CB8AC3E}">
        <p14:creationId xmlns:p14="http://schemas.microsoft.com/office/powerpoint/2010/main" val="2354531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We're working with Telstra on Robotics and Natural Language Intelligence (iii)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Telstra has proven robots like Astro (!!!) can safely sense and report from hazardous sites, but there's no evidence they can interpret vague, unstructured human instructions or (iii) answer natural-language questions about their surroundings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Our project gives the robot enough language reasoning to resolve ambiguous instructions(iii) and describe what it sees in plain conversation.(iii)</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We're researching and implementing this using Haku (!!!), the Pepper robot at RMIT's VX Lab, since we don't have physical access to Astro itself, but the target users are still Astro the Robot Dog operators.</a:t>
            </a:r>
          </a:p>
          <a:p>
            <a:endParaRPr lang="en-AU" dirty="0"/>
          </a:p>
          <a:p>
            <a:endParaRPr lang="en-AU"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EA5BBA5B-07BE-4545-A668-E64ED402EA3A}" type="slidenum">
              <a:rPr lang="en-US" smtClean="0"/>
              <a:t>2</a:t>
            </a:fld>
            <a:endParaRPr lang="en-US"/>
          </a:p>
        </p:txBody>
      </p:sp>
    </p:spTree>
    <p:extLst>
      <p:ext uri="{BB962C8B-B14F-4D97-AF65-F5344CB8AC3E}">
        <p14:creationId xmlns:p14="http://schemas.microsoft.com/office/powerpoint/2010/main" val="2086824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en-AU" dirty="0"/>
              <a:t>The Scope for Sprint 1 was Research(iii), Design(iii) and Bootstrap(iii)</a:t>
            </a:r>
          </a:p>
          <a:p>
            <a:endParaRPr lang="en-AU" dirty="0"/>
          </a:p>
          <a:p>
            <a:r>
              <a:rPr lang="en-AU" dirty="0"/>
              <a:t>The three commitments entailed that we:</a:t>
            </a:r>
          </a:p>
          <a:p>
            <a:endParaRPr lang="en-AU" dirty="0"/>
          </a:p>
          <a:p>
            <a:r>
              <a:rPr lang="en-AU" dirty="0"/>
              <a:t>Research LLM options in the VX lab so we can make an informed choice for speech-to-text and reasoning.</a:t>
            </a:r>
          </a:p>
          <a:p>
            <a:endParaRPr lang="en-AU" dirty="0"/>
          </a:p>
          <a:p>
            <a:r>
              <a:rPr lang="en-AU" dirty="0"/>
              <a:t>Bootstrap the codebase by cloning and getting familiar with the </a:t>
            </a:r>
            <a:r>
              <a:rPr lang="en-AU" dirty="0" err="1"/>
              <a:t>haku_control_system</a:t>
            </a:r>
            <a:r>
              <a:rPr lang="en-AU" dirty="0"/>
              <a:t> repository that was given to us by Sam from the VX Lab</a:t>
            </a:r>
          </a:p>
          <a:p>
            <a:endParaRPr lang="en-AU" dirty="0"/>
          </a:p>
          <a:p>
            <a:r>
              <a:rPr lang="en-AU" dirty="0"/>
              <a:t>And design a basic user board that displays an interaction scenario between the human and robot in our simulated environment which is the XVLab</a:t>
            </a:r>
          </a:p>
          <a:p>
            <a:endParaRPr lang="en-US" dirty="0"/>
          </a:p>
        </p:txBody>
      </p:sp>
      <p:sp>
        <p:nvSpPr>
          <p:cNvPr id="4" name="Slide Number Placeholder 3"/>
          <p:cNvSpPr>
            <a:spLocks noGrp="1"/>
          </p:cNvSpPr>
          <p:nvPr>
            <p:ph type="sldNum" sz="quarter" idx="5"/>
          </p:nvPr>
        </p:nvSpPr>
        <p:spPr/>
        <p:txBody>
          <a:bodyPr/>
          <a:lstStyle/>
          <a:p>
            <a:fld id="{EA5BBA5B-07BE-4545-A668-E64ED402EA3A}" type="slidenum">
              <a:rPr lang="en-US" smtClean="0"/>
              <a:t>3</a:t>
            </a:fld>
            <a:endParaRPr lang="en-US"/>
          </a:p>
        </p:txBody>
      </p:sp>
    </p:spTree>
    <p:extLst>
      <p:ext uri="{BB962C8B-B14F-4D97-AF65-F5344CB8AC3E}">
        <p14:creationId xmlns:p14="http://schemas.microsoft.com/office/powerpoint/2010/main" val="2500155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actual achievements for the Sprint:</a:t>
            </a:r>
          </a:p>
          <a:p>
            <a:endParaRPr lang="en-US" dirty="0"/>
          </a:p>
          <a:p>
            <a:r>
              <a:rPr lang="en-US" dirty="0"/>
              <a:t>(iii) On the left there are 2 user board scenarios for a  human interacting with the pepper robot, one with a programmed item which is the chair and it’s able to identify it and communicate it, and one with an unprogrammed item which is a piece of bread and it isn’t able to identify it or give a description. </a:t>
            </a:r>
          </a:p>
          <a:p>
            <a:endParaRPr lang="en-US" dirty="0"/>
          </a:p>
          <a:p>
            <a:r>
              <a:rPr lang="en-US" dirty="0"/>
              <a:t>This is to outline the vision we have for how the pepper robot and eventually Astro will be able to interpret and describe it’s surroundings while also handling edge cases and unfamiliar objects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In the middle we have the </a:t>
            </a:r>
            <a:r>
              <a:rPr lang="en-US" dirty="0" err="1"/>
              <a:t>Github</a:t>
            </a:r>
            <a:r>
              <a:rPr lang="en-US" dirty="0"/>
              <a:t> repo that was set up and will use for the rest of our project, so far we’ve </a:t>
            </a:r>
            <a:r>
              <a:rPr lang="en-US" dirty="0" err="1"/>
              <a:t>bootstaped</a:t>
            </a:r>
            <a:r>
              <a:rPr lang="en-US" dirty="0"/>
              <a:t> the repository and implemented the </a:t>
            </a:r>
            <a:r>
              <a:rPr lang="en-AU" sz="1200" kern="1200" dirty="0">
                <a:solidFill>
                  <a:schemeClr val="tx1"/>
                </a:solidFill>
                <a:effectLst/>
                <a:latin typeface="+mn-lt"/>
                <a:ea typeface="+mn-ea"/>
                <a:cs typeface="+mn-cs"/>
              </a:rPr>
              <a:t>LLM scaffold using </a:t>
            </a:r>
            <a:r>
              <a:rPr lang="en-AU" sz="1200" kern="1200" dirty="0" err="1">
                <a:solidFill>
                  <a:schemeClr val="tx1"/>
                </a:solidFill>
                <a:effectLst/>
                <a:latin typeface="+mn-lt"/>
                <a:ea typeface="+mn-ea"/>
                <a:cs typeface="+mn-cs"/>
              </a:rPr>
              <a:t>Ollama</a:t>
            </a:r>
            <a:r>
              <a:rPr lang="en-AU"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And to take it back to last week, we had a long design workshop to decide and nail down our idea and the problem we’re trying to solve, we used </a:t>
            </a:r>
            <a:r>
              <a:rPr lang="en-US" dirty="0" err="1"/>
              <a:t>techniqcs</a:t>
            </a:r>
            <a:r>
              <a:rPr lang="en-US" dirty="0"/>
              <a:t> from Jolly’s lecture a couple of weeks back.</a:t>
            </a:r>
          </a:p>
        </p:txBody>
      </p:sp>
      <p:sp>
        <p:nvSpPr>
          <p:cNvPr id="4" name="Slide Number Placeholder 3"/>
          <p:cNvSpPr>
            <a:spLocks noGrp="1"/>
          </p:cNvSpPr>
          <p:nvPr>
            <p:ph type="sldNum" sz="quarter" idx="5"/>
          </p:nvPr>
        </p:nvSpPr>
        <p:spPr/>
        <p:txBody>
          <a:bodyPr/>
          <a:lstStyle/>
          <a:p>
            <a:fld id="{EA5BBA5B-07BE-4545-A668-E64ED402EA3A}" type="slidenum">
              <a:rPr lang="en-US" smtClean="0"/>
              <a:t>4</a:t>
            </a:fld>
            <a:endParaRPr lang="en-US"/>
          </a:p>
        </p:txBody>
      </p:sp>
    </p:spTree>
    <p:extLst>
      <p:ext uri="{BB962C8B-B14F-4D97-AF65-F5344CB8AC3E}">
        <p14:creationId xmlns:p14="http://schemas.microsoft.com/office/powerpoint/2010/main" val="2367763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a:t>
            </a:r>
          </a:p>
          <a:p>
            <a:endParaRPr lang="en-US" dirty="0"/>
          </a:p>
          <a:p>
            <a:r>
              <a:rPr lang="en-US" dirty="0"/>
              <a:t>(iii)For sprint 1 we focused on implementing the basic features right, like making sure speech-to-text is working and making sure the repository is bootstrapped and that we have a clear idea of what n  interaction scenario is like between the operator and the robot.</a:t>
            </a:r>
            <a:br>
              <a:rPr lang="en-US" dirty="0"/>
            </a:br>
            <a:endParaRPr lang="en-US" dirty="0"/>
          </a:p>
          <a:p>
            <a:r>
              <a:rPr lang="en-US" dirty="0"/>
              <a:t>(iii)This will give us a good foundation to be more challenging features in the coming sprints, for example being able to interact with it’s surroundings more freely and working to implementing emotional awareness while speaking to the user/operator.</a:t>
            </a:r>
          </a:p>
          <a:p>
            <a:endParaRPr lang="en-US" dirty="0"/>
          </a:p>
          <a:p>
            <a:r>
              <a:rPr lang="en-US" dirty="0"/>
              <a:t>This is to show that we got the setup done and we have everything ready for the next sprint</a:t>
            </a:r>
            <a:br>
              <a:rPr lang="en-US" dirty="0"/>
            </a:br>
            <a:endParaRPr lang="en-US" dirty="0"/>
          </a:p>
        </p:txBody>
      </p:sp>
      <p:sp>
        <p:nvSpPr>
          <p:cNvPr id="4" name="Slide Number Placeholder 3"/>
          <p:cNvSpPr>
            <a:spLocks noGrp="1"/>
          </p:cNvSpPr>
          <p:nvPr>
            <p:ph type="sldNum" sz="quarter" idx="5"/>
          </p:nvPr>
        </p:nvSpPr>
        <p:spPr/>
        <p:txBody>
          <a:bodyPr/>
          <a:lstStyle/>
          <a:p>
            <a:fld id="{EA5BBA5B-07BE-4545-A668-E64ED402EA3A}" type="slidenum">
              <a:rPr lang="en-US" smtClean="0"/>
              <a:t>5</a:t>
            </a:fld>
            <a:endParaRPr lang="en-US"/>
          </a:p>
        </p:txBody>
      </p:sp>
    </p:spTree>
    <p:extLst>
      <p:ext uri="{BB962C8B-B14F-4D97-AF65-F5344CB8AC3E}">
        <p14:creationId xmlns:p14="http://schemas.microsoft.com/office/powerpoint/2010/main" val="61196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(iii)Ary our BA suggested that we have a meeting earlier in the week to discuss expectations for the tasks, this will help us a lot as we would normally have the catch up meeting towards the end of the week as an end of the week discussion and we would be misaligned at the start of the week, which delays task completion till Thursday and Friday.</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F56146"/>
                </a:solidFill>
              </a:rPr>
              <a:t>(iii)Another important thing is that technically our client project proposal is still not signed off after last Monday’s meeting, </a:t>
            </a:r>
            <a:r>
              <a:rPr lang="en-US" b="0" dirty="0" err="1">
                <a:solidFill>
                  <a:srgbClr val="F56146"/>
                </a:solidFill>
              </a:rPr>
              <a:t>hopfully</a:t>
            </a:r>
            <a:r>
              <a:rPr lang="en-US" b="0" dirty="0">
                <a:solidFill>
                  <a:srgbClr val="F56146"/>
                </a:solidFill>
              </a:rPr>
              <a:t> we hear back from Alessio and Nikhita about it soon</a:t>
            </a:r>
          </a:p>
        </p:txBody>
      </p:sp>
      <p:sp>
        <p:nvSpPr>
          <p:cNvPr id="4" name="Slide Number Placeholder 3"/>
          <p:cNvSpPr>
            <a:spLocks noGrp="1"/>
          </p:cNvSpPr>
          <p:nvPr>
            <p:ph type="sldNum" sz="quarter" idx="5"/>
          </p:nvPr>
        </p:nvSpPr>
        <p:spPr/>
        <p:txBody>
          <a:bodyPr/>
          <a:lstStyle/>
          <a:p>
            <a:fld id="{EA5BBA5B-07BE-4545-A668-E64ED402EA3A}" type="slidenum">
              <a:rPr lang="en-US" smtClean="0"/>
              <a:t>6</a:t>
            </a:fld>
            <a:endParaRPr lang="en-US"/>
          </a:p>
        </p:txBody>
      </p:sp>
    </p:spTree>
    <p:extLst>
      <p:ext uri="{BB962C8B-B14F-4D97-AF65-F5344CB8AC3E}">
        <p14:creationId xmlns:p14="http://schemas.microsoft.com/office/powerpoint/2010/main" val="485197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5BBA5B-07BE-4545-A668-E64ED402EA3A}" type="slidenum">
              <a:rPr lang="en-US" smtClean="0"/>
              <a:t>7</a:t>
            </a:fld>
            <a:endParaRPr lang="en-US"/>
          </a:p>
        </p:txBody>
      </p:sp>
    </p:spTree>
    <p:extLst>
      <p:ext uri="{BB962C8B-B14F-4D97-AF65-F5344CB8AC3E}">
        <p14:creationId xmlns:p14="http://schemas.microsoft.com/office/powerpoint/2010/main" val="2347138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all of our tasks for Sprint1 Weeks 1 to 3, if there is a disparity between this and our planner it’s because it weeks 1 and 2 we recorded meetings between us and with our supervisors and clients as hours, but Alessio made an announcement this week that meeting are not tasks, that’s why I left the meeting tasks in our planner out of this table.</a:t>
            </a:r>
          </a:p>
          <a:p>
            <a:endParaRPr lang="en-US" dirty="0"/>
          </a:p>
        </p:txBody>
      </p:sp>
      <p:sp>
        <p:nvSpPr>
          <p:cNvPr id="4" name="Slide Number Placeholder 3"/>
          <p:cNvSpPr>
            <a:spLocks noGrp="1"/>
          </p:cNvSpPr>
          <p:nvPr>
            <p:ph type="sldNum" sz="quarter" idx="5"/>
          </p:nvPr>
        </p:nvSpPr>
        <p:spPr/>
        <p:txBody>
          <a:bodyPr/>
          <a:lstStyle/>
          <a:p>
            <a:fld id="{EA5BBA5B-07BE-4545-A668-E64ED402EA3A}" type="slidenum">
              <a:rPr lang="en-US" smtClean="0"/>
              <a:t>8</a:t>
            </a:fld>
            <a:endParaRPr lang="en-US"/>
          </a:p>
        </p:txBody>
      </p:sp>
    </p:spTree>
    <p:extLst>
      <p:ext uri="{BB962C8B-B14F-4D97-AF65-F5344CB8AC3E}">
        <p14:creationId xmlns:p14="http://schemas.microsoft.com/office/powerpoint/2010/main" val="4266195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Major events this Sprint include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(iii)Supervisor meeting with Alessio for feedback on client project proposal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We had and Introductory meeting with </a:t>
            </a:r>
            <a:r>
              <a:rPr lang="en-US" dirty="0" err="1"/>
              <a:t>Milindi</a:t>
            </a:r>
            <a:r>
              <a:rPr lang="en-US" dirty="0"/>
              <a:t>, our technical supervisor, she gave us some things to expect before we had our XVLab induction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We had a XVLab introduction where we dropped in to have a look at the lab and an overview of the 2 robots and talked expectations while using the lab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Then we had a VXLab induction where we picked Haku the pepper robot as opposed to Bandit the other robot, and Sam gave us a detailed overview on how to use the robot’s hardware and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We then had our client proposal meeting last Monday where we implemented Alessio’s feedback from our first supervisor meeting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The three main tasks: research, design and bootstrap which I talked about earlier were all done this week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(iii) In sprint 2 we hope to explore and implement the emotional aware aspect of the interaction between the human and the robot and also train it more on it’s </a:t>
            </a:r>
            <a:r>
              <a:rPr lang="en-US" dirty="0" err="1"/>
              <a:t>environement</a:t>
            </a:r>
            <a:r>
              <a:rPr lang="en-US" dirty="0"/>
              <a:t> and how it interacts with it’s surrounding, and ultimate provide an MVP before refining it in Sprint 3</a:t>
            </a:r>
          </a:p>
          <a:p>
            <a:endParaRPr lang="en-US" dirty="0"/>
          </a:p>
        </p:txBody>
      </p:sp>
      <p:sp>
        <p:nvSpPr>
          <p:cNvPr id="4" name="Slide Number Placeholder 3"/>
          <p:cNvSpPr>
            <a:spLocks noGrp="1"/>
          </p:cNvSpPr>
          <p:nvPr>
            <p:ph type="sldNum" sz="quarter" idx="5"/>
          </p:nvPr>
        </p:nvSpPr>
        <p:spPr/>
        <p:txBody>
          <a:bodyPr/>
          <a:lstStyle/>
          <a:p>
            <a:fld id="{EA5BBA5B-07BE-4545-A668-E64ED402EA3A}" type="slidenum">
              <a:rPr lang="en-US" smtClean="0"/>
              <a:t>9</a:t>
            </a:fld>
            <a:endParaRPr lang="en-US"/>
          </a:p>
        </p:txBody>
      </p:sp>
    </p:spTree>
    <p:extLst>
      <p:ext uri="{BB962C8B-B14F-4D97-AF65-F5344CB8AC3E}">
        <p14:creationId xmlns:p14="http://schemas.microsoft.com/office/powerpoint/2010/main" val="2027650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2275B-5EAE-13EF-E68E-6EA777D2E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C24A2-9050-B9A9-28A7-F91B3D225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15CC7-1283-A3D8-F78E-189A179C49E9}"/>
              </a:ext>
            </a:extLst>
          </p:cNvPr>
          <p:cNvSpPr>
            <a:spLocks noGrp="1"/>
          </p:cNvSpPr>
          <p:nvPr>
            <p:ph type="body" idx="1"/>
          </p:nvPr>
        </p:nvSpPr>
        <p:spPr/>
        <p:txBody>
          <a:bodyPr/>
          <a:lstStyle/>
          <a:p>
            <a:r>
              <a:rPr lang="en-US" dirty="0"/>
              <a:t>Ary speaks</a:t>
            </a:r>
          </a:p>
          <a:p>
            <a:endParaRPr lang="en-US" dirty="0"/>
          </a:p>
          <a:p>
            <a:endParaRPr lang="en-US" dirty="0"/>
          </a:p>
          <a:p>
            <a:pPr rtl="0" fontAlgn="base"/>
            <a:r>
              <a:rPr lang="en-US" sz="1200" b="0" i="0" kern="1200" dirty="0">
                <a:solidFill>
                  <a:schemeClr val="tx1"/>
                </a:solidFill>
                <a:effectLst/>
                <a:latin typeface="+mn-lt"/>
                <a:ea typeface="+mn-ea"/>
                <a:cs typeface="+mn-cs"/>
              </a:rPr>
              <a:t>Tasks I’ve done:</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Re-defining Tasks for Week 1</a:t>
            </a:r>
            <a:r>
              <a:rPr lang="en-US" sz="1200" b="0" i="0" kern="1200" dirty="0">
                <a:solidFill>
                  <a:schemeClr val="tx1"/>
                </a:solidFill>
                <a:effectLst/>
                <a:latin typeface="+mn-lt"/>
                <a:ea typeface="+mn-ea"/>
                <a:cs typeface="+mn-cs"/>
              </a:rPr>
              <a:t>: Because our Sprint 1 plan we’ve created during the demo sprint needed to be overhauled, I’ve worked with Salman to re-define these tasks.</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Ideation Workshop in Week 2</a:t>
            </a:r>
            <a:r>
              <a:rPr lang="en-US" sz="1200" b="0" i="0" kern="1200" dirty="0">
                <a:solidFill>
                  <a:schemeClr val="tx1"/>
                </a:solidFill>
                <a:effectLst/>
                <a:latin typeface="+mn-lt"/>
                <a:ea typeface="+mn-ea"/>
                <a:cs typeface="+mn-cs"/>
              </a:rPr>
              <a:t>: Used Jolly’s template as guidance on setting up and facilitating the team ideation workshop, focused on implementing the design thinking framework to identify a feasible problem to focus on, which was used in the renewed client project proposal.</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Re-defined and allocating tasks for Week 3</a:t>
            </a:r>
            <a:r>
              <a:rPr lang="en-US" sz="1200" b="0" i="0" kern="1200" dirty="0">
                <a:solidFill>
                  <a:schemeClr val="tx1"/>
                </a:solidFill>
                <a:effectLst/>
                <a:latin typeface="+mn-lt"/>
                <a:ea typeface="+mn-ea"/>
                <a:cs typeface="+mn-cs"/>
              </a:rPr>
              <a:t>: Worked with PM to redefine tasks for Week 3 based off renewed client project proposal.</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User Story Board Requirements Document</a:t>
            </a:r>
            <a:r>
              <a:rPr lang="en-US" sz="1200" b="0" i="0" kern="1200" dirty="0">
                <a:solidFill>
                  <a:schemeClr val="tx1"/>
                </a:solidFill>
                <a:effectLst/>
                <a:latin typeface="+mn-lt"/>
                <a:ea typeface="+mn-ea"/>
                <a:cs typeface="+mn-cs"/>
              </a:rPr>
              <a:t>: Created two user story board requirement documents for (1) Robot Simulation Environment &amp; Speech-to-text + LLM Pipeline Scaffolding Stand Up (2) Natural Language Object Query feature.</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Reviewing Dev &amp; UX Work</a:t>
            </a:r>
            <a:r>
              <a:rPr lang="en-US" sz="1200" b="0" i="0" kern="1200" dirty="0">
                <a:solidFill>
                  <a:schemeClr val="tx1"/>
                </a:solidFill>
                <a:effectLst/>
                <a:latin typeface="+mn-lt"/>
                <a:ea typeface="+mn-ea"/>
                <a:cs typeface="+mn-cs"/>
              </a:rPr>
              <a:t>: Reviewed UX and Dev work to ensure that it meets the acceptance criteria defined in the task, and ensure that there is no potential for scope creep (e.g. using a different language with Haku).</a:t>
            </a:r>
            <a:r>
              <a:rPr lang="en-AU" sz="1200" b="0" i="0" kern="1200" dirty="0">
                <a:solidFill>
                  <a:schemeClr val="tx1"/>
                </a:solidFill>
                <a:effectLst/>
                <a:latin typeface="+mn-lt"/>
                <a:ea typeface="+mn-ea"/>
                <a:cs typeface="+mn-cs"/>
              </a:rPr>
              <a:t> </a:t>
            </a:r>
          </a:p>
          <a:p>
            <a:pPr lvl="0" rtl="0" fontAlgn="base"/>
            <a:r>
              <a:rPr lang="en-US" sz="1200" b="1" i="0" kern="1200" dirty="0">
                <a:solidFill>
                  <a:schemeClr val="tx1"/>
                </a:solidFill>
                <a:effectLst/>
                <a:latin typeface="+mn-lt"/>
                <a:ea typeface="+mn-ea"/>
                <a:cs typeface="+mn-cs"/>
              </a:rPr>
              <a:t>Collaborative Planning &amp; Organization with PM</a:t>
            </a:r>
            <a:r>
              <a:rPr lang="en-US" sz="1200" b="0" i="0" kern="1200" dirty="0">
                <a:solidFill>
                  <a:schemeClr val="tx1"/>
                </a:solidFill>
                <a:effectLst/>
                <a:latin typeface="+mn-lt"/>
                <a:ea typeface="+mn-ea"/>
                <a:cs typeface="+mn-cs"/>
              </a:rPr>
              <a:t>: Collaboration with PM ensures redundancy; ensured that there are minimal gaps in planning, keeping the team on track and accountable, consistent communication with team members and keeping team members aligned with the project goals.</a:t>
            </a:r>
            <a:r>
              <a:rPr lang="en-AU" sz="1200" b="0" i="0" kern="1200" dirty="0">
                <a:solidFill>
                  <a:schemeClr val="tx1"/>
                </a:solidFill>
                <a:effectLst/>
                <a:latin typeface="+mn-lt"/>
                <a:ea typeface="+mn-ea"/>
                <a:cs typeface="+mn-cs"/>
              </a:rPr>
              <a:t> </a:t>
            </a:r>
          </a:p>
          <a:p>
            <a:pPr rtl="0" fontAlgn="base"/>
            <a:r>
              <a:rPr lang="en-US" sz="1200" b="0" i="0" kern="1200" dirty="0">
                <a:solidFill>
                  <a:schemeClr val="tx1"/>
                </a:solidFill>
                <a:effectLst/>
                <a:latin typeface="+mn-lt"/>
                <a:ea typeface="+mn-ea"/>
                <a:cs typeface="+mn-cs"/>
              </a:rPr>
              <a:t> Blockers:</a:t>
            </a:r>
            <a:r>
              <a:rPr lang="en-AU" sz="1200" b="0" i="0" kern="1200" dirty="0">
                <a:solidFill>
                  <a:schemeClr val="tx1"/>
                </a:solidFill>
                <a:effectLst/>
                <a:latin typeface="+mn-lt"/>
                <a:ea typeface="+mn-ea"/>
                <a:cs typeface="+mn-cs"/>
              </a:rPr>
              <a:t> </a:t>
            </a:r>
          </a:p>
          <a:p>
            <a:pPr lvl="0" rtl="0" fontAlgn="base"/>
            <a:r>
              <a:rPr lang="en-US" sz="1200" b="0" i="0" kern="1200" dirty="0">
                <a:solidFill>
                  <a:schemeClr val="tx1"/>
                </a:solidFill>
                <a:effectLst/>
                <a:latin typeface="+mn-lt"/>
                <a:ea typeface="+mn-ea"/>
                <a:cs typeface="+mn-cs"/>
              </a:rPr>
              <a:t>After creating the first client project proposal and receiving feedback from Alessio towards the end of the demo, we’ve learnt that we’ve gone in the wrong direction in our project planning, and it was a major bump in the road for the first week and a half of our sprint 1- causing delays. Through this, I’ve learnt the significance of having a structured ideation session, which I’ve implemented after attending Jolly’s UX design workshop, to effectively and efficiently identify a feasible problem to tackle.</a:t>
            </a:r>
            <a:r>
              <a:rPr lang="en-AU" sz="1200" b="0" i="0" kern="1200" dirty="0">
                <a:solidFill>
                  <a:schemeClr val="tx1"/>
                </a:solidFill>
                <a:effectLst/>
                <a:latin typeface="+mn-lt"/>
                <a:ea typeface="+mn-ea"/>
                <a:cs typeface="+mn-cs"/>
              </a:rPr>
              <a:t> </a:t>
            </a:r>
          </a:p>
          <a:p>
            <a:endParaRPr lang="en-US" dirty="0"/>
          </a:p>
          <a:p>
            <a:endParaRPr lang="en-US" dirty="0"/>
          </a:p>
        </p:txBody>
      </p:sp>
      <p:sp>
        <p:nvSpPr>
          <p:cNvPr id="4" name="Slide Number Placeholder 3">
            <a:extLst>
              <a:ext uri="{FF2B5EF4-FFF2-40B4-BE49-F238E27FC236}">
                <a16:creationId xmlns:a16="http://schemas.microsoft.com/office/drawing/2014/main" id="{76EF21CD-5C8D-7C02-DD7A-4DCD2D4A3745}"/>
              </a:ext>
            </a:extLst>
          </p:cNvPr>
          <p:cNvSpPr>
            <a:spLocks noGrp="1"/>
          </p:cNvSpPr>
          <p:nvPr>
            <p:ph type="sldNum" sz="quarter" idx="5"/>
          </p:nvPr>
        </p:nvSpPr>
        <p:spPr/>
        <p:txBody>
          <a:bodyPr/>
          <a:lstStyle/>
          <a:p>
            <a:fld id="{EA5BBA5B-07BE-4545-A668-E64ED402EA3A}" type="slidenum">
              <a:rPr lang="en-US" smtClean="0"/>
              <a:t>10</a:t>
            </a:fld>
            <a:endParaRPr lang="en-US"/>
          </a:p>
        </p:txBody>
      </p:sp>
    </p:spTree>
    <p:extLst>
      <p:ext uri="{BB962C8B-B14F-4D97-AF65-F5344CB8AC3E}">
        <p14:creationId xmlns:p14="http://schemas.microsoft.com/office/powerpoint/2010/main" val="1429053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E0759-4081-BA8F-C4DD-AF622A5C9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23E71-CF47-44CB-B10A-FD289019A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33205-F441-D4DC-CDC9-77CF163F85CA}"/>
              </a:ext>
            </a:extLst>
          </p:cNvPr>
          <p:cNvSpPr>
            <a:spLocks noGrp="1"/>
          </p:cNvSpPr>
          <p:nvPr>
            <p:ph type="body" idx="1"/>
          </p:nvPr>
        </p:nvSpPr>
        <p:spPr/>
        <p:txBody>
          <a:bodyPr/>
          <a:lstStyle/>
          <a:p>
            <a:r>
              <a:rPr lang="en-US" dirty="0"/>
              <a:t>Luka </a:t>
            </a:r>
            <a:r>
              <a:rPr lang="en-US" sz="1200" dirty="0">
                <a:latin typeface="Calibri" pitchFamily="34" charset="0"/>
                <a:ea typeface="Calibri" pitchFamily="34" charset="-122"/>
                <a:cs typeface="Calibri" pitchFamily="34" charset="-120"/>
              </a:rPr>
              <a:t>Grganovic</a:t>
            </a:r>
            <a:endParaRPr lang="en-US" dirty="0"/>
          </a:p>
        </p:txBody>
      </p:sp>
      <p:sp>
        <p:nvSpPr>
          <p:cNvPr id="4" name="Slide Number Placeholder 3">
            <a:extLst>
              <a:ext uri="{FF2B5EF4-FFF2-40B4-BE49-F238E27FC236}">
                <a16:creationId xmlns:a16="http://schemas.microsoft.com/office/drawing/2014/main" id="{DD5D16A4-9BEC-FA07-FB00-0314E530DB72}"/>
              </a:ext>
            </a:extLst>
          </p:cNvPr>
          <p:cNvSpPr>
            <a:spLocks noGrp="1"/>
          </p:cNvSpPr>
          <p:nvPr>
            <p:ph type="sldNum" sz="quarter" idx="5"/>
          </p:nvPr>
        </p:nvSpPr>
        <p:spPr/>
        <p:txBody>
          <a:bodyPr/>
          <a:lstStyle/>
          <a:p>
            <a:fld id="{EA5BBA5B-07BE-4545-A668-E64ED402EA3A}" type="slidenum">
              <a:rPr lang="en-US" smtClean="0"/>
              <a:t>12</a:t>
            </a:fld>
            <a:endParaRPr lang="en-US"/>
          </a:p>
        </p:txBody>
      </p:sp>
    </p:spTree>
    <p:extLst>
      <p:ext uri="{BB962C8B-B14F-4D97-AF65-F5344CB8AC3E}">
        <p14:creationId xmlns:p14="http://schemas.microsoft.com/office/powerpoint/2010/main" val="3717192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0E32-3319-5E41-E747-30A5215C8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B7565-26C1-EBB5-C584-C5A765606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F47D9-FA27-9D71-09E7-165750FFBD4E}"/>
              </a:ext>
            </a:extLst>
          </p:cNvPr>
          <p:cNvSpPr>
            <a:spLocks noGrp="1"/>
          </p:cNvSpPr>
          <p:nvPr>
            <p:ph type="body" idx="1"/>
          </p:nvPr>
        </p:nvSpPr>
        <p:spPr/>
        <p:txBody>
          <a:bodyPr/>
          <a:lstStyle/>
          <a:p>
            <a:r>
              <a:rPr lang="en-US" dirty="0"/>
              <a:t>Turin Speaks:</a:t>
            </a:r>
            <a:br>
              <a:rPr lang="en-US" dirty="0"/>
            </a:br>
            <a:br>
              <a:rPr lang="en-US" dirty="0"/>
            </a:br>
            <a:r>
              <a:rPr lang="en-AU" dirty="0"/>
              <a:t>For Sprint 1, my main contribution as the UX designer was participating in the ideation workshops and helping the team explore different problem areas and potential use cases for the robot. I contributed to discussions around user needs, possible personas and how we could turn those problems into potential solutions. I also attended the Robot Lab induction, which helped me understand the environment we're designing for and some of the practical capabilities and limitations of Haku the robot.</a:t>
            </a:r>
          </a:p>
          <a:p>
            <a:endParaRPr lang="en-AU" dirty="0"/>
          </a:p>
          <a:p>
            <a:r>
              <a:rPr lang="en-AU" dirty="0"/>
              <a:t>One blocker I found was that because we're still in the early ideation stage the final use case and user requirements weren't completely defined. </a:t>
            </a:r>
          </a:p>
          <a:p>
            <a:endParaRPr lang="en-AU" dirty="0"/>
          </a:p>
          <a:p>
            <a:r>
              <a:rPr lang="en-AU" dirty="0"/>
              <a:t>That made it difficult to start producing detailed UX designs or wireframes. A key learning for me was that understanding the problem and the user's needs first is important before jumping straight into designing a solution.</a:t>
            </a:r>
          </a:p>
          <a:p>
            <a:endParaRPr lang="en-US" dirty="0"/>
          </a:p>
        </p:txBody>
      </p:sp>
      <p:sp>
        <p:nvSpPr>
          <p:cNvPr id="4" name="Slide Number Placeholder 3">
            <a:extLst>
              <a:ext uri="{FF2B5EF4-FFF2-40B4-BE49-F238E27FC236}">
                <a16:creationId xmlns:a16="http://schemas.microsoft.com/office/drawing/2014/main" id="{3A13FB34-5135-68DB-556B-5AE00019682C}"/>
              </a:ext>
            </a:extLst>
          </p:cNvPr>
          <p:cNvSpPr>
            <a:spLocks noGrp="1"/>
          </p:cNvSpPr>
          <p:nvPr>
            <p:ph type="sldNum" sz="quarter" idx="5"/>
          </p:nvPr>
        </p:nvSpPr>
        <p:spPr/>
        <p:txBody>
          <a:bodyPr/>
          <a:lstStyle/>
          <a:p>
            <a:fld id="{EA5BBA5B-07BE-4545-A668-E64ED402EA3A}" type="slidenum">
              <a:rPr lang="en-US" smtClean="0"/>
              <a:t>13</a:t>
            </a:fld>
            <a:endParaRPr lang="en-US"/>
          </a:p>
        </p:txBody>
      </p:sp>
    </p:spTree>
    <p:extLst>
      <p:ext uri="{BB962C8B-B14F-4D97-AF65-F5344CB8AC3E}">
        <p14:creationId xmlns:p14="http://schemas.microsoft.com/office/powerpoint/2010/main" val="23997456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GB"/>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C7AB9226-6C0F-B24A-8722-096540BE4A56}" type="datetimeFigureOut">
              <a:rPr lang="en-US" smtClean="0"/>
              <a:t>9/11/26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6361407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158718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GB"/>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9869931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GB"/>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6592390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685376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767845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925919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07558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480880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C7AB9226-6C0F-B24A-8722-096540BE4A56}" type="datetimeFigureOut">
              <a:rPr lang="en-US" smtClean="0"/>
              <a:t>9/11/26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948099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C7AB9226-6C0F-B24A-8722-096540BE4A56}" type="datetimeFigureOut">
              <a:rPr lang="en-US" smtClean="0"/>
              <a:t>9/11/26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2090525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C7AB9226-6C0F-B24A-8722-096540BE4A56}" type="datetimeFigureOut">
              <a:rPr lang="en-US" smtClean="0"/>
              <a:t>9/11/26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248AA419-7BBD-BE4D-94FC-EA5899A59212}"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047318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C7AB9226-6C0F-B24A-8722-096540BE4A56}" type="datetimeFigureOut">
              <a:rPr lang="en-US" smtClean="0"/>
              <a:t>9/11/26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248AA419-7BBD-BE4D-94FC-EA5899A59212}"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45311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C7AB9226-6C0F-B24A-8722-096540BE4A56}" type="datetimeFigureOut">
              <a:rPr lang="en-US" smtClean="0"/>
              <a:t>9/11/26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248AA419-7BBD-BE4D-94FC-EA5899A59212}"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57531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GB"/>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C7AB9226-6C0F-B24A-8722-096540BE4A56}" type="datetimeFigureOut">
              <a:rPr lang="en-US" smtClean="0"/>
              <a:t>9/11/26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965231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379286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C7AB9226-6C0F-B24A-8722-096540BE4A56}" type="datetimeFigureOut">
              <a:rPr lang="en-US" smtClean="0"/>
              <a:t>9/11/26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338103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695884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248AA419-7BBD-BE4D-94FC-EA5899A59212}" type="slidenum">
              <a:rPr lang="en-US" smtClean="0"/>
              <a:t>‹#›</a:t>
            </a:fld>
            <a:endParaRPr lang="en-US"/>
          </a:p>
        </p:txBody>
      </p:sp>
    </p:spTree>
    <p:extLst>
      <p:ext uri="{BB962C8B-B14F-4D97-AF65-F5344CB8AC3E}">
        <p14:creationId xmlns:p14="http://schemas.microsoft.com/office/powerpoint/2010/main" val="243913776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293738439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6483377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22499148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95494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1304530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26787605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GB"/>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55544009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48AA419-7BBD-BE4D-94FC-EA5899A59212}" type="slidenum">
              <a:rPr lang="en-US" smtClean="0"/>
              <a:t>‹#›</a:t>
            </a:fld>
            <a:endParaRPr lang="en-US"/>
          </a:p>
        </p:txBody>
      </p:sp>
    </p:spTree>
    <p:extLst>
      <p:ext uri="{BB962C8B-B14F-4D97-AF65-F5344CB8AC3E}">
        <p14:creationId xmlns:p14="http://schemas.microsoft.com/office/powerpoint/2010/main" val="327562359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C7AB9226-6C0F-B24A-8722-096540BE4A56}" type="datetimeFigureOut">
              <a:rPr lang="en-US" smtClean="0"/>
              <a:t>9/11/26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248AA419-7BBD-BE4D-94FC-EA5899A59212}" type="slidenum">
              <a:rPr lang="en-US" smtClean="0"/>
              <a:t>‹#›</a:t>
            </a:fld>
            <a:endParaRPr lang="en-US"/>
          </a:p>
        </p:txBody>
      </p:sp>
    </p:spTree>
    <p:extLst>
      <p:ext uri="{BB962C8B-B14F-4D97-AF65-F5344CB8AC3E}">
        <p14:creationId xmlns:p14="http://schemas.microsoft.com/office/powerpoint/2010/main" val="3805773458"/>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 id="2147484041" r:id="rId17"/>
    <p:sldLayoutId id="2147484042" r:id="rId18"/>
    <p:sldLayoutId id="2147484043" r:id="rId19"/>
    <p:sldLayoutId id="2147484044" r:id="rId20"/>
    <p:sldLayoutId id="2147484045" r:id="rId21"/>
    <p:sldLayoutId id="2147484046" r:id="rId22"/>
    <p:sldLayoutId id="2147484047" r:id="rId23"/>
    <p:sldLayoutId id="2147484048" r:id="rId24"/>
    <p:sldLayoutId id="2147484049" r:id="rId25"/>
    <p:sldLayoutId id="2147484050" r:id="rId26"/>
    <p:sldLayoutId id="2147484051"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org&amp;utm_campaign=index&amp;utm_content=thumbnai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603F9-0B61-D764-AAEA-2E6021F40189}"/>
              </a:ext>
            </a:extLst>
          </p:cNvPr>
          <p:cNvSpPr>
            <a:spLocks noGrp="1"/>
          </p:cNvSpPr>
          <p:nvPr>
            <p:ph type="ctrTitle"/>
          </p:nvPr>
        </p:nvSpPr>
        <p:spPr>
          <a:xfrm>
            <a:off x="447334" y="2114483"/>
            <a:ext cx="8683753" cy="1222511"/>
          </a:xfrm>
        </p:spPr>
        <p:txBody>
          <a:bodyPr/>
          <a:lstStyle/>
          <a:p>
            <a:r>
              <a:rPr lang="en-US" dirty="0">
                <a:solidFill>
                  <a:srgbClr val="114EF8"/>
                </a:solidFill>
              </a:rPr>
              <a:t>Sprint 1 Playback</a:t>
            </a:r>
          </a:p>
        </p:txBody>
      </p:sp>
      <p:sp>
        <p:nvSpPr>
          <p:cNvPr id="3" name="Subtitle 2">
            <a:extLst>
              <a:ext uri="{FF2B5EF4-FFF2-40B4-BE49-F238E27FC236}">
                <a16:creationId xmlns:a16="http://schemas.microsoft.com/office/drawing/2014/main" id="{F85CD5DC-61E2-C4E5-69D8-454762139968}"/>
              </a:ext>
            </a:extLst>
          </p:cNvPr>
          <p:cNvSpPr>
            <a:spLocks noGrp="1"/>
          </p:cNvSpPr>
          <p:nvPr>
            <p:ph type="subTitle" idx="1"/>
          </p:nvPr>
        </p:nvSpPr>
        <p:spPr>
          <a:xfrm>
            <a:off x="612647" y="3521006"/>
            <a:ext cx="6881457" cy="1014984"/>
          </a:xfrm>
        </p:spPr>
        <p:txBody>
          <a:bodyPr/>
          <a:lstStyle/>
          <a:p>
            <a:r>
              <a:rPr lang="en-US" b="1" dirty="0">
                <a:solidFill>
                  <a:srgbClr val="F56146"/>
                </a:solidFill>
              </a:rPr>
              <a:t>COSC2408 – Programming project 1</a:t>
            </a:r>
          </a:p>
          <a:p>
            <a:endParaRPr lang="en-US" dirty="0"/>
          </a:p>
        </p:txBody>
      </p:sp>
      <p:sp>
        <p:nvSpPr>
          <p:cNvPr id="4" name="Text 14">
            <a:extLst>
              <a:ext uri="{FF2B5EF4-FFF2-40B4-BE49-F238E27FC236}">
                <a16:creationId xmlns:a16="http://schemas.microsoft.com/office/drawing/2014/main" id="{2DD94760-5E31-BAB6-113F-F1E0EF506623}"/>
              </a:ext>
            </a:extLst>
          </p:cNvPr>
          <p:cNvSpPr txBox="1"/>
          <p:nvPr/>
        </p:nvSpPr>
        <p:spPr>
          <a:xfrm>
            <a:off x="8297793" y="3915470"/>
            <a:ext cx="8778240" cy="1425051"/>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PM: Salman Maarouf  </a:t>
            </a:r>
          </a:p>
          <a:p>
            <a:pPr marL="0" indent="0">
              <a:buNone/>
            </a:pPr>
            <a:r>
              <a:rPr lang="en-US" sz="1600" dirty="0">
                <a:latin typeface="Calibri" pitchFamily="34" charset="0"/>
                <a:ea typeface="Calibri" pitchFamily="34" charset="-122"/>
                <a:cs typeface="Calibri" pitchFamily="34" charset="-120"/>
              </a:rPr>
              <a:t>BA: Aryan Gholami </a:t>
            </a:r>
          </a:p>
          <a:p>
            <a:pPr marL="0" indent="0">
              <a:buNone/>
            </a:pPr>
            <a:r>
              <a:rPr lang="en-US" sz="1600" dirty="0">
                <a:latin typeface="Calibri" pitchFamily="34" charset="0"/>
                <a:ea typeface="Calibri" pitchFamily="34" charset="-122"/>
                <a:cs typeface="Calibri" pitchFamily="34" charset="-120"/>
              </a:rPr>
              <a:t>UX: Turin Sayed </a:t>
            </a:r>
          </a:p>
          <a:p>
            <a:pPr marL="0" indent="0">
              <a:buNone/>
            </a:pPr>
            <a:r>
              <a:rPr lang="en-US" sz="1600" dirty="0">
                <a:latin typeface="Calibri" pitchFamily="34" charset="0"/>
                <a:ea typeface="Calibri" pitchFamily="34" charset="-122"/>
                <a:cs typeface="Calibri" pitchFamily="34" charset="-120"/>
              </a:rPr>
              <a:t>Dev: Aiza Fontanilla</a:t>
            </a:r>
          </a:p>
          <a:p>
            <a:pPr marL="0" indent="0">
              <a:buNone/>
            </a:pPr>
            <a:r>
              <a:rPr lang="en-US" sz="1600" dirty="0">
                <a:latin typeface="Calibri" pitchFamily="34" charset="0"/>
                <a:ea typeface="Calibri" pitchFamily="34" charset="-122"/>
                <a:cs typeface="Calibri" pitchFamily="34" charset="-120"/>
              </a:rPr>
              <a:t>Dev: Luka Grganovic</a:t>
            </a:r>
            <a:endParaRPr lang="en-US" sz="1600" dirty="0"/>
          </a:p>
        </p:txBody>
      </p:sp>
      <p:pic>
        <p:nvPicPr>
          <p:cNvPr id="10" name="Picture 9" descr="File:RMIT University Logo.svg - Wikimedia Commons">
            <a:extLst>
              <a:ext uri="{FF2B5EF4-FFF2-40B4-BE49-F238E27FC236}">
                <a16:creationId xmlns:a16="http://schemas.microsoft.com/office/drawing/2014/main" id="{A5AFD773-2122-C4B6-9EF4-077885E094AC}"/>
              </a:ext>
            </a:extLst>
          </p:cNvPr>
          <p:cNvPicPr>
            <a:picLocks noChangeAspect="1"/>
          </p:cNvPicPr>
          <p:nvPr/>
        </p:nvPicPr>
        <p:blipFill>
          <a:blip r:embed="rId3"/>
          <a:stretch>
            <a:fillRect/>
          </a:stretch>
        </p:blipFill>
        <p:spPr>
          <a:xfrm>
            <a:off x="447334" y="491954"/>
            <a:ext cx="3390990" cy="1193911"/>
          </a:xfrm>
          <a:prstGeom prst="rect">
            <a:avLst/>
          </a:prstGeom>
        </p:spPr>
      </p:pic>
      <p:sp>
        <p:nvSpPr>
          <p:cNvPr id="13" name="TextBox 12">
            <a:extLst>
              <a:ext uri="{FF2B5EF4-FFF2-40B4-BE49-F238E27FC236}">
                <a16:creationId xmlns:a16="http://schemas.microsoft.com/office/drawing/2014/main" id="{53C33ACC-0E2C-9E8C-D2DE-46A487A9B0F2}"/>
              </a:ext>
            </a:extLst>
          </p:cNvPr>
          <p:cNvSpPr txBox="1"/>
          <p:nvPr/>
        </p:nvSpPr>
        <p:spPr>
          <a:xfrm>
            <a:off x="8297793" y="3521006"/>
            <a:ext cx="1373150" cy="646331"/>
          </a:xfrm>
          <a:prstGeom prst="rect">
            <a:avLst/>
          </a:prstGeom>
          <a:noFill/>
        </p:spPr>
        <p:txBody>
          <a:bodyPr wrap="square">
            <a:spAutoFit/>
          </a:bodyPr>
          <a:lstStyle/>
          <a:p>
            <a:r>
              <a:rPr lang="en-US" b="1" dirty="0">
                <a:solidFill>
                  <a:srgbClr val="F56146"/>
                </a:solidFill>
              </a:rPr>
              <a:t>Team: 17</a:t>
            </a:r>
            <a:endParaRPr lang="en-US" sz="1800" b="1" dirty="0">
              <a:solidFill>
                <a:srgbClr val="F56146"/>
              </a:solidFill>
            </a:endParaRPr>
          </a:p>
          <a:p>
            <a:endParaRPr lang="en-US" sz="1800" dirty="0"/>
          </a:p>
        </p:txBody>
      </p:sp>
      <p:sp>
        <p:nvSpPr>
          <p:cNvPr id="15" name="TextBox 14">
            <a:extLst>
              <a:ext uri="{FF2B5EF4-FFF2-40B4-BE49-F238E27FC236}">
                <a16:creationId xmlns:a16="http://schemas.microsoft.com/office/drawing/2014/main" id="{22DEF6BD-EB07-393E-F93F-1572C7D5ACBB}"/>
              </a:ext>
            </a:extLst>
          </p:cNvPr>
          <p:cNvSpPr txBox="1"/>
          <p:nvPr/>
        </p:nvSpPr>
        <p:spPr>
          <a:xfrm>
            <a:off x="798435" y="4258664"/>
            <a:ext cx="6098582" cy="369332"/>
          </a:xfrm>
          <a:prstGeom prst="rect">
            <a:avLst/>
          </a:prstGeom>
          <a:noFill/>
        </p:spPr>
        <p:txBody>
          <a:bodyPr wrap="square">
            <a:spAutoFit/>
          </a:bodyPr>
          <a:lstStyle/>
          <a:p>
            <a:r>
              <a:rPr lang="en-US" sz="1800" b="1" dirty="0">
                <a:solidFill>
                  <a:srgbClr val="F56146"/>
                </a:solidFill>
              </a:rPr>
              <a:t>Project: Telstra-Robotics and NLI </a:t>
            </a:r>
            <a:endParaRPr lang="en-US" dirty="0"/>
          </a:p>
        </p:txBody>
      </p:sp>
    </p:spTree>
    <p:extLst>
      <p:ext uri="{BB962C8B-B14F-4D97-AF65-F5344CB8AC3E}">
        <p14:creationId xmlns:p14="http://schemas.microsoft.com/office/powerpoint/2010/main" val="2619359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3475-FACC-D3BB-8258-D0A8B4E5B009}"/>
              </a:ext>
            </a:extLst>
          </p:cNvPr>
          <p:cNvSpPr>
            <a:spLocks noGrp="1"/>
          </p:cNvSpPr>
          <p:nvPr>
            <p:ph type="ctrTitle"/>
          </p:nvPr>
        </p:nvSpPr>
        <p:spPr>
          <a:xfrm>
            <a:off x="612647" y="1143000"/>
            <a:ext cx="8683753" cy="719667"/>
          </a:xfrm>
        </p:spPr>
        <p:txBody>
          <a:bodyPr>
            <a:noAutofit/>
          </a:bodyPr>
          <a:lstStyle/>
          <a:p>
            <a:r>
              <a:rPr lang="en-US" dirty="0">
                <a:solidFill>
                  <a:srgbClr val="114EF8"/>
                </a:solidFill>
              </a:rPr>
              <a:t>Project Overview</a:t>
            </a:r>
          </a:p>
        </p:txBody>
      </p:sp>
      <p:sp>
        <p:nvSpPr>
          <p:cNvPr id="3" name="Subtitle 2">
            <a:extLst>
              <a:ext uri="{FF2B5EF4-FFF2-40B4-BE49-F238E27FC236}">
                <a16:creationId xmlns:a16="http://schemas.microsoft.com/office/drawing/2014/main" id="{AB679C14-DBE4-0D5B-FC25-C6FE571AFDD6}"/>
              </a:ext>
            </a:extLst>
          </p:cNvPr>
          <p:cNvSpPr>
            <a:spLocks noGrp="1"/>
          </p:cNvSpPr>
          <p:nvPr>
            <p:ph type="subTitle" idx="1"/>
          </p:nvPr>
        </p:nvSpPr>
        <p:spPr>
          <a:xfrm>
            <a:off x="612647" y="1862667"/>
            <a:ext cx="11096753" cy="1926617"/>
          </a:xfrm>
        </p:spPr>
        <p:txBody>
          <a:bodyPr>
            <a:normAutofit/>
          </a:bodyPr>
          <a:lstStyle/>
          <a:p>
            <a:pPr marL="285750" indent="-285750">
              <a:buFont typeface="Arial" panose="020B0604020202020204" pitchFamily="34" charset="0"/>
              <a:buChar char="•"/>
            </a:pPr>
            <a:r>
              <a:rPr lang="en-AU" b="1" dirty="0">
                <a:solidFill>
                  <a:srgbClr val="F56146"/>
                </a:solidFill>
              </a:rPr>
              <a:t>Robotics and Natural Language Intelligence </a:t>
            </a:r>
          </a:p>
          <a:p>
            <a:pPr marL="285750" indent="-285750">
              <a:buFont typeface="Arial" panose="020B0604020202020204" pitchFamily="34" charset="0"/>
              <a:buChar char="•"/>
            </a:pPr>
            <a:r>
              <a:rPr lang="en-AU" b="1" dirty="0">
                <a:solidFill>
                  <a:srgbClr val="F56146"/>
                </a:solidFill>
              </a:rPr>
              <a:t>Answer natural-language questions about their surroundings</a:t>
            </a:r>
          </a:p>
          <a:p>
            <a:pPr marL="285750" indent="-285750">
              <a:buFont typeface="Arial" panose="020B0604020202020204" pitchFamily="34" charset="0"/>
              <a:buChar char="•"/>
            </a:pPr>
            <a:r>
              <a:rPr lang="en-AU" b="1" dirty="0">
                <a:solidFill>
                  <a:srgbClr val="F56146"/>
                </a:solidFill>
              </a:rPr>
              <a:t>Resolve ambiguous instructions </a:t>
            </a:r>
          </a:p>
          <a:p>
            <a:pPr marL="285750" indent="-285750">
              <a:buFont typeface="Arial" panose="020B0604020202020204" pitchFamily="34" charset="0"/>
              <a:buChar char="•"/>
            </a:pPr>
            <a:r>
              <a:rPr lang="en-AU" b="1" dirty="0">
                <a:solidFill>
                  <a:srgbClr val="F56146"/>
                </a:solidFill>
              </a:rPr>
              <a:t>Describe what it sees </a:t>
            </a:r>
            <a:endParaRPr lang="en-US" b="1" dirty="0">
              <a:solidFill>
                <a:srgbClr val="F56146"/>
              </a:solidFill>
            </a:endParaRPr>
          </a:p>
        </p:txBody>
      </p:sp>
      <p:pic>
        <p:nvPicPr>
          <p:cNvPr id="4" name="Picture 3">
            <a:extLst>
              <a:ext uri="{FF2B5EF4-FFF2-40B4-BE49-F238E27FC236}">
                <a16:creationId xmlns:a16="http://schemas.microsoft.com/office/drawing/2014/main" id="{1DABFF42-FCC7-319C-6EAE-4FEB08418711}"/>
              </a:ext>
            </a:extLst>
          </p:cNvPr>
          <p:cNvPicPr>
            <a:picLocks noChangeAspect="1"/>
          </p:cNvPicPr>
          <p:nvPr/>
        </p:nvPicPr>
        <p:blipFill>
          <a:blip r:embed="rId3"/>
          <a:stretch>
            <a:fillRect/>
          </a:stretch>
        </p:blipFill>
        <p:spPr>
          <a:xfrm>
            <a:off x="3138914" y="3789284"/>
            <a:ext cx="1815609" cy="2770296"/>
          </a:xfrm>
          <a:prstGeom prst="rect">
            <a:avLst/>
          </a:prstGeom>
        </p:spPr>
      </p:pic>
      <p:pic>
        <p:nvPicPr>
          <p:cNvPr id="5" name="Picture 4">
            <a:extLst>
              <a:ext uri="{FF2B5EF4-FFF2-40B4-BE49-F238E27FC236}">
                <a16:creationId xmlns:a16="http://schemas.microsoft.com/office/drawing/2014/main" id="{1B493649-9384-1AE9-1B25-9ADFC914398D}"/>
              </a:ext>
            </a:extLst>
          </p:cNvPr>
          <p:cNvPicPr>
            <a:picLocks noChangeAspect="1"/>
          </p:cNvPicPr>
          <p:nvPr/>
        </p:nvPicPr>
        <p:blipFill>
          <a:blip r:embed="rId4"/>
          <a:stretch>
            <a:fillRect/>
          </a:stretch>
        </p:blipFill>
        <p:spPr>
          <a:xfrm>
            <a:off x="6220440" y="4157393"/>
            <a:ext cx="2034077" cy="2034077"/>
          </a:xfrm>
          <a:prstGeom prst="rect">
            <a:avLst/>
          </a:prstGeom>
        </p:spPr>
      </p:pic>
    </p:spTree>
    <p:extLst>
      <p:ext uri="{BB962C8B-B14F-4D97-AF65-F5344CB8AC3E}">
        <p14:creationId xmlns:p14="http://schemas.microsoft.com/office/powerpoint/2010/main" val="4735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C16E-8B6B-C4B0-CE99-9572A37A8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D130A-3FEC-6ED0-CC35-F9EA22143682}"/>
              </a:ext>
            </a:extLst>
          </p:cNvPr>
          <p:cNvSpPr>
            <a:spLocks noGrp="1"/>
          </p:cNvSpPr>
          <p:nvPr>
            <p:ph type="ctrTitle"/>
          </p:nvPr>
        </p:nvSpPr>
        <p:spPr>
          <a:xfrm>
            <a:off x="612647" y="1143000"/>
            <a:ext cx="8683753" cy="719667"/>
          </a:xfrm>
        </p:spPr>
        <p:txBody>
          <a:bodyPr>
            <a:noAutofit/>
          </a:bodyPr>
          <a:lstStyle/>
          <a:p>
            <a:r>
              <a:rPr lang="en-US" dirty="0">
                <a:solidFill>
                  <a:srgbClr val="114EF8"/>
                </a:solidFill>
              </a:rPr>
              <a:t>Original Plan</a:t>
            </a:r>
          </a:p>
        </p:txBody>
      </p:sp>
      <p:sp>
        <p:nvSpPr>
          <p:cNvPr id="3" name="Subtitle 2">
            <a:extLst>
              <a:ext uri="{FF2B5EF4-FFF2-40B4-BE49-F238E27FC236}">
                <a16:creationId xmlns:a16="http://schemas.microsoft.com/office/drawing/2014/main" id="{1C2E2B22-04B0-CFC8-2C7C-7E828F7D2226}"/>
              </a:ext>
            </a:extLst>
          </p:cNvPr>
          <p:cNvSpPr>
            <a:spLocks noGrp="1"/>
          </p:cNvSpPr>
          <p:nvPr>
            <p:ph type="subTitle" idx="1"/>
          </p:nvPr>
        </p:nvSpPr>
        <p:spPr>
          <a:xfrm>
            <a:off x="612647" y="2192867"/>
            <a:ext cx="11096753" cy="3320965"/>
          </a:xfrm>
        </p:spPr>
        <p:txBody>
          <a:bodyPr/>
          <a:lstStyle/>
          <a:p>
            <a:pPr marL="285750" indent="-285750">
              <a:buFont typeface="Arial" panose="020B0604020202020204" pitchFamily="34" charset="0"/>
              <a:buChar char="•"/>
            </a:pPr>
            <a:r>
              <a:rPr lang="en-US" b="1" dirty="0">
                <a:solidFill>
                  <a:srgbClr val="F56146"/>
                </a:solidFill>
              </a:rPr>
              <a:t>Research</a:t>
            </a:r>
          </a:p>
          <a:p>
            <a:pPr marL="285750" indent="-285750">
              <a:buFont typeface="Arial" panose="020B0604020202020204" pitchFamily="34" charset="0"/>
              <a:buChar char="•"/>
            </a:pPr>
            <a:r>
              <a:rPr lang="en-US" b="1" dirty="0">
                <a:solidFill>
                  <a:srgbClr val="F56146"/>
                </a:solidFill>
              </a:rPr>
              <a:t>Design</a:t>
            </a:r>
          </a:p>
          <a:p>
            <a:pPr marL="285750" indent="-285750">
              <a:buFont typeface="Arial" panose="020B0604020202020204" pitchFamily="34" charset="0"/>
              <a:buChar char="•"/>
            </a:pPr>
            <a:r>
              <a:rPr lang="en-US" b="1" dirty="0">
                <a:solidFill>
                  <a:srgbClr val="F56146"/>
                </a:solidFill>
              </a:rPr>
              <a:t>Bootstrap</a:t>
            </a:r>
          </a:p>
          <a:p>
            <a:endParaRPr lang="en-US" dirty="0"/>
          </a:p>
        </p:txBody>
      </p:sp>
    </p:spTree>
    <p:extLst>
      <p:ext uri="{BB962C8B-B14F-4D97-AF65-F5344CB8AC3E}">
        <p14:creationId xmlns:p14="http://schemas.microsoft.com/office/powerpoint/2010/main" val="283970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blinds(horizontal)">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7ABA6-3CCC-B2AE-CCCD-AB3FC56B5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30789-5B12-8989-26DF-C36817FDD4DB}"/>
              </a:ext>
            </a:extLst>
          </p:cNvPr>
          <p:cNvSpPr>
            <a:spLocks noGrp="1"/>
          </p:cNvSpPr>
          <p:nvPr>
            <p:ph type="ctrTitle"/>
          </p:nvPr>
        </p:nvSpPr>
        <p:spPr>
          <a:xfrm>
            <a:off x="612647" y="1143000"/>
            <a:ext cx="8683753" cy="719667"/>
          </a:xfrm>
        </p:spPr>
        <p:txBody>
          <a:bodyPr>
            <a:noAutofit/>
          </a:bodyPr>
          <a:lstStyle/>
          <a:p>
            <a:r>
              <a:rPr lang="en-US" dirty="0">
                <a:solidFill>
                  <a:srgbClr val="114EF8"/>
                </a:solidFill>
              </a:rPr>
              <a:t>Actual Achievement</a:t>
            </a:r>
          </a:p>
        </p:txBody>
      </p:sp>
      <p:pic>
        <p:nvPicPr>
          <p:cNvPr id="5" name="Picture 4">
            <a:extLst>
              <a:ext uri="{FF2B5EF4-FFF2-40B4-BE49-F238E27FC236}">
                <a16:creationId xmlns:a16="http://schemas.microsoft.com/office/drawing/2014/main" id="{07427AF8-7B26-DD60-E3C6-15F3DDF8336C}"/>
              </a:ext>
            </a:extLst>
          </p:cNvPr>
          <p:cNvPicPr>
            <a:picLocks noChangeAspect="1"/>
          </p:cNvPicPr>
          <p:nvPr/>
        </p:nvPicPr>
        <p:blipFill>
          <a:blip r:embed="rId3"/>
          <a:stretch>
            <a:fillRect/>
          </a:stretch>
        </p:blipFill>
        <p:spPr>
          <a:xfrm>
            <a:off x="429810" y="1862667"/>
            <a:ext cx="2867549" cy="2269066"/>
          </a:xfrm>
          <a:prstGeom prst="rect">
            <a:avLst/>
          </a:prstGeom>
        </p:spPr>
      </p:pic>
      <p:pic>
        <p:nvPicPr>
          <p:cNvPr id="7" name="Picture 6">
            <a:extLst>
              <a:ext uri="{FF2B5EF4-FFF2-40B4-BE49-F238E27FC236}">
                <a16:creationId xmlns:a16="http://schemas.microsoft.com/office/drawing/2014/main" id="{FB5CF0E8-1F12-0B74-D1E8-0A922AE6BB43}"/>
              </a:ext>
            </a:extLst>
          </p:cNvPr>
          <p:cNvPicPr>
            <a:picLocks noChangeAspect="1"/>
          </p:cNvPicPr>
          <p:nvPr/>
        </p:nvPicPr>
        <p:blipFill>
          <a:blip r:embed="rId4"/>
          <a:stretch>
            <a:fillRect/>
          </a:stretch>
        </p:blipFill>
        <p:spPr>
          <a:xfrm>
            <a:off x="472448" y="4296712"/>
            <a:ext cx="2782271" cy="2154766"/>
          </a:xfrm>
          <a:prstGeom prst="rect">
            <a:avLst/>
          </a:prstGeom>
        </p:spPr>
      </p:pic>
      <p:pic>
        <p:nvPicPr>
          <p:cNvPr id="9" name="Picture 8">
            <a:extLst>
              <a:ext uri="{FF2B5EF4-FFF2-40B4-BE49-F238E27FC236}">
                <a16:creationId xmlns:a16="http://schemas.microsoft.com/office/drawing/2014/main" id="{7AA4C88B-9EA9-E0F9-66C6-EB5A0E9B920A}"/>
              </a:ext>
            </a:extLst>
          </p:cNvPr>
          <p:cNvPicPr>
            <a:picLocks noChangeAspect="1"/>
          </p:cNvPicPr>
          <p:nvPr/>
        </p:nvPicPr>
        <p:blipFill>
          <a:blip r:embed="rId5"/>
          <a:stretch>
            <a:fillRect/>
          </a:stretch>
        </p:blipFill>
        <p:spPr>
          <a:xfrm>
            <a:off x="3905068" y="1955800"/>
            <a:ext cx="4560741" cy="2340912"/>
          </a:xfrm>
          <a:prstGeom prst="rect">
            <a:avLst/>
          </a:prstGeom>
        </p:spPr>
      </p:pic>
      <p:pic>
        <p:nvPicPr>
          <p:cNvPr id="11" name="Picture 10">
            <a:extLst>
              <a:ext uri="{FF2B5EF4-FFF2-40B4-BE49-F238E27FC236}">
                <a16:creationId xmlns:a16="http://schemas.microsoft.com/office/drawing/2014/main" id="{D9B43B4F-ABA5-0C0B-0FEF-B35A45E696DE}"/>
              </a:ext>
            </a:extLst>
          </p:cNvPr>
          <p:cNvPicPr>
            <a:picLocks noChangeAspect="1"/>
          </p:cNvPicPr>
          <p:nvPr/>
        </p:nvPicPr>
        <p:blipFill>
          <a:blip r:embed="rId6"/>
          <a:stretch>
            <a:fillRect/>
          </a:stretch>
        </p:blipFill>
        <p:spPr>
          <a:xfrm>
            <a:off x="4639339" y="4414935"/>
            <a:ext cx="3092197" cy="2182727"/>
          </a:xfrm>
          <a:prstGeom prst="rect">
            <a:avLst/>
          </a:prstGeom>
        </p:spPr>
      </p:pic>
      <p:pic>
        <p:nvPicPr>
          <p:cNvPr id="13" name="Picture 12">
            <a:extLst>
              <a:ext uri="{FF2B5EF4-FFF2-40B4-BE49-F238E27FC236}">
                <a16:creationId xmlns:a16="http://schemas.microsoft.com/office/drawing/2014/main" id="{728F175F-FAFB-6331-7490-3C312A8F876F}"/>
              </a:ext>
            </a:extLst>
          </p:cNvPr>
          <p:cNvPicPr>
            <a:picLocks noChangeAspect="1"/>
          </p:cNvPicPr>
          <p:nvPr/>
        </p:nvPicPr>
        <p:blipFill>
          <a:blip r:embed="rId7"/>
          <a:stretch>
            <a:fillRect/>
          </a:stretch>
        </p:blipFill>
        <p:spPr>
          <a:xfrm>
            <a:off x="8782446" y="4131733"/>
            <a:ext cx="3092197" cy="2465929"/>
          </a:xfrm>
          <a:prstGeom prst="rect">
            <a:avLst/>
          </a:prstGeom>
        </p:spPr>
      </p:pic>
      <p:pic>
        <p:nvPicPr>
          <p:cNvPr id="15" name="Picture 14">
            <a:extLst>
              <a:ext uri="{FF2B5EF4-FFF2-40B4-BE49-F238E27FC236}">
                <a16:creationId xmlns:a16="http://schemas.microsoft.com/office/drawing/2014/main" id="{F46C0571-537B-C36C-37C1-2B29D1CFF230}"/>
              </a:ext>
            </a:extLst>
          </p:cNvPr>
          <p:cNvPicPr>
            <a:picLocks noChangeAspect="1"/>
          </p:cNvPicPr>
          <p:nvPr/>
        </p:nvPicPr>
        <p:blipFill>
          <a:blip r:embed="rId8"/>
          <a:stretch>
            <a:fillRect/>
          </a:stretch>
        </p:blipFill>
        <p:spPr>
          <a:xfrm>
            <a:off x="8681626" y="1862667"/>
            <a:ext cx="3293836" cy="1860249"/>
          </a:xfrm>
          <a:prstGeom prst="rect">
            <a:avLst/>
          </a:prstGeom>
        </p:spPr>
      </p:pic>
    </p:spTree>
    <p:extLst>
      <p:ext uri="{BB962C8B-B14F-4D97-AF65-F5344CB8AC3E}">
        <p14:creationId xmlns:p14="http://schemas.microsoft.com/office/powerpoint/2010/main" val="237602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AD9C-E8B3-D86A-6588-EE5A2EB84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E5EF5-DB51-D023-617D-54B389D4C63F}"/>
              </a:ext>
            </a:extLst>
          </p:cNvPr>
          <p:cNvSpPr>
            <a:spLocks noGrp="1"/>
          </p:cNvSpPr>
          <p:nvPr>
            <p:ph type="ctrTitle"/>
          </p:nvPr>
        </p:nvSpPr>
        <p:spPr>
          <a:xfrm>
            <a:off x="612647" y="1143000"/>
            <a:ext cx="8683753" cy="719667"/>
          </a:xfrm>
        </p:spPr>
        <p:txBody>
          <a:bodyPr>
            <a:noAutofit/>
          </a:bodyPr>
          <a:lstStyle/>
          <a:p>
            <a:r>
              <a:rPr lang="en-US" sz="4800" dirty="0">
                <a:solidFill>
                  <a:srgbClr val="114EF8"/>
                </a:solidFill>
              </a:rPr>
              <a:t>Why It Matters</a:t>
            </a:r>
          </a:p>
        </p:txBody>
      </p:sp>
      <p:sp>
        <p:nvSpPr>
          <p:cNvPr id="3" name="Subtitle 2">
            <a:extLst>
              <a:ext uri="{FF2B5EF4-FFF2-40B4-BE49-F238E27FC236}">
                <a16:creationId xmlns:a16="http://schemas.microsoft.com/office/drawing/2014/main" id="{80D3807D-4D22-4E16-9F99-D95A33467797}"/>
              </a:ext>
            </a:extLst>
          </p:cNvPr>
          <p:cNvSpPr>
            <a:spLocks noGrp="1"/>
          </p:cNvSpPr>
          <p:nvPr>
            <p:ph type="subTitle" idx="1"/>
          </p:nvPr>
        </p:nvSpPr>
        <p:spPr>
          <a:xfrm>
            <a:off x="612647" y="2192867"/>
            <a:ext cx="11096753" cy="3320965"/>
          </a:xfrm>
        </p:spPr>
        <p:txBody>
          <a:bodyPr/>
          <a:lstStyle/>
          <a:p>
            <a:pPr marL="285750" indent="-285750">
              <a:buFont typeface="Arial" panose="020B0604020202020204" pitchFamily="34" charset="0"/>
              <a:buChar char="•"/>
            </a:pPr>
            <a:r>
              <a:rPr lang="en-US" b="1" dirty="0">
                <a:solidFill>
                  <a:srgbClr val="F56146"/>
                </a:solidFill>
              </a:rPr>
              <a:t>Sprint 1: speech to text, repo is bootstrapped, interaction scenario</a:t>
            </a:r>
          </a:p>
          <a:p>
            <a:pPr marL="285750" indent="-285750">
              <a:buFont typeface="Arial" panose="020B0604020202020204" pitchFamily="34" charset="0"/>
              <a:buChar char="•"/>
            </a:pPr>
            <a:r>
              <a:rPr lang="en-US" b="1" dirty="0">
                <a:solidFill>
                  <a:srgbClr val="F56146"/>
                </a:solidFill>
              </a:rPr>
              <a:t>Coming up: interact with surroundings more freely, implementing emotional awareness while speaking to the user</a:t>
            </a:r>
          </a:p>
        </p:txBody>
      </p:sp>
    </p:spTree>
    <p:extLst>
      <p:ext uri="{BB962C8B-B14F-4D97-AF65-F5344CB8AC3E}">
        <p14:creationId xmlns:p14="http://schemas.microsoft.com/office/powerpoint/2010/main" val="387756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AE444-5211-6E61-D331-F4FF7D492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BDF9E-C948-959C-CB24-9DAF24BA01B2}"/>
              </a:ext>
            </a:extLst>
          </p:cNvPr>
          <p:cNvSpPr>
            <a:spLocks noGrp="1"/>
          </p:cNvSpPr>
          <p:nvPr>
            <p:ph type="ctrTitle"/>
          </p:nvPr>
        </p:nvSpPr>
        <p:spPr>
          <a:xfrm>
            <a:off x="612647" y="1143000"/>
            <a:ext cx="8683753" cy="719667"/>
          </a:xfrm>
        </p:spPr>
        <p:txBody>
          <a:bodyPr>
            <a:noAutofit/>
          </a:bodyPr>
          <a:lstStyle/>
          <a:p>
            <a:r>
              <a:rPr lang="en-US" sz="4400" dirty="0">
                <a:solidFill>
                  <a:srgbClr val="114EF8"/>
                </a:solidFill>
              </a:rPr>
              <a:t>Blockers and Open Questions</a:t>
            </a:r>
          </a:p>
        </p:txBody>
      </p:sp>
      <p:sp>
        <p:nvSpPr>
          <p:cNvPr id="3" name="Subtitle 2">
            <a:extLst>
              <a:ext uri="{FF2B5EF4-FFF2-40B4-BE49-F238E27FC236}">
                <a16:creationId xmlns:a16="http://schemas.microsoft.com/office/drawing/2014/main" id="{57B47554-2020-7784-C9C0-BBF156659032}"/>
              </a:ext>
            </a:extLst>
          </p:cNvPr>
          <p:cNvSpPr>
            <a:spLocks noGrp="1"/>
          </p:cNvSpPr>
          <p:nvPr>
            <p:ph type="subTitle" idx="1"/>
          </p:nvPr>
        </p:nvSpPr>
        <p:spPr>
          <a:xfrm>
            <a:off x="612647" y="2192867"/>
            <a:ext cx="11096753" cy="3320965"/>
          </a:xfrm>
        </p:spPr>
        <p:txBody>
          <a:bodyPr/>
          <a:lstStyle/>
          <a:p>
            <a:pPr marL="285750" indent="-285750">
              <a:buFont typeface="Arial" panose="020B0604020202020204" pitchFamily="34" charset="0"/>
              <a:buChar char="•"/>
            </a:pPr>
            <a:r>
              <a:rPr lang="en-US" b="1" dirty="0">
                <a:solidFill>
                  <a:srgbClr val="F56146"/>
                </a:solidFill>
              </a:rPr>
              <a:t>Beginning of the week meetings rather than end of the week</a:t>
            </a:r>
          </a:p>
          <a:p>
            <a:pPr marL="285750" indent="-285750">
              <a:buFont typeface="Arial" panose="020B0604020202020204" pitchFamily="34" charset="0"/>
              <a:buChar char="•"/>
            </a:pPr>
            <a:r>
              <a:rPr lang="en-US" b="1" dirty="0">
                <a:solidFill>
                  <a:srgbClr val="F56146"/>
                </a:solidFill>
              </a:rPr>
              <a:t>Another important thing is that technically our client project proposal is still not signed off</a:t>
            </a:r>
          </a:p>
          <a:p>
            <a:pPr marL="285750" indent="-285750">
              <a:buFont typeface="Arial" panose="020B0604020202020204" pitchFamily="34" charset="0"/>
              <a:buChar char="•"/>
            </a:pPr>
            <a:endParaRPr lang="en-US" b="1" dirty="0">
              <a:solidFill>
                <a:srgbClr val="F56146"/>
              </a:solidFill>
            </a:endParaRPr>
          </a:p>
        </p:txBody>
      </p:sp>
    </p:spTree>
    <p:extLst>
      <p:ext uri="{BB962C8B-B14F-4D97-AF65-F5344CB8AC3E}">
        <p14:creationId xmlns:p14="http://schemas.microsoft.com/office/powerpoint/2010/main" val="301805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494F-712E-50E4-7148-B6E53BBE9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C6FD4-6033-0515-DC28-87419BC3FC54}"/>
              </a:ext>
            </a:extLst>
          </p:cNvPr>
          <p:cNvSpPr>
            <a:spLocks noGrp="1"/>
          </p:cNvSpPr>
          <p:nvPr>
            <p:ph type="ctrTitle"/>
          </p:nvPr>
        </p:nvSpPr>
        <p:spPr>
          <a:xfrm>
            <a:off x="547332" y="372291"/>
            <a:ext cx="8683753" cy="719667"/>
          </a:xfrm>
        </p:spPr>
        <p:txBody>
          <a:bodyPr>
            <a:noAutofit/>
          </a:bodyPr>
          <a:lstStyle/>
          <a:p>
            <a:r>
              <a:rPr lang="en-US" sz="4400" dirty="0">
                <a:solidFill>
                  <a:srgbClr val="114EF8"/>
                </a:solidFill>
              </a:rPr>
              <a:t>Task Allocation and Time Spent </a:t>
            </a:r>
          </a:p>
        </p:txBody>
      </p:sp>
      <p:graphicFrame>
        <p:nvGraphicFramePr>
          <p:cNvPr id="4" name="Table 3">
            <a:extLst>
              <a:ext uri="{FF2B5EF4-FFF2-40B4-BE49-F238E27FC236}">
                <a16:creationId xmlns:a16="http://schemas.microsoft.com/office/drawing/2014/main" id="{86350878-2182-C536-17FE-F9B786236B2F}"/>
              </a:ext>
            </a:extLst>
          </p:cNvPr>
          <p:cNvGraphicFramePr>
            <a:graphicFrameLocks noGrp="1"/>
          </p:cNvGraphicFramePr>
          <p:nvPr>
            <p:extLst>
              <p:ext uri="{D42A27DB-BD31-4B8C-83A1-F6EECF244321}">
                <p14:modId xmlns:p14="http://schemas.microsoft.com/office/powerpoint/2010/main" val="1992669436"/>
              </p:ext>
            </p:extLst>
          </p:nvPr>
        </p:nvGraphicFramePr>
        <p:xfrm>
          <a:off x="447438" y="1377165"/>
          <a:ext cx="11297124" cy="5306806"/>
        </p:xfrm>
        <a:graphic>
          <a:graphicData uri="http://schemas.openxmlformats.org/drawingml/2006/table">
            <a:tbl>
              <a:tblPr firstRow="1" bandRow="1">
                <a:tableStyleId>{5C22544A-7EE6-4342-B048-85BDC9FD1C3A}</a:tableStyleId>
              </a:tblPr>
              <a:tblGrid>
                <a:gridCol w="1695778">
                  <a:extLst>
                    <a:ext uri="{9D8B030D-6E8A-4147-A177-3AD203B41FA5}">
                      <a16:colId xmlns:a16="http://schemas.microsoft.com/office/drawing/2014/main" val="786888777"/>
                    </a:ext>
                  </a:extLst>
                </a:gridCol>
                <a:gridCol w="7706178">
                  <a:extLst>
                    <a:ext uri="{9D8B030D-6E8A-4147-A177-3AD203B41FA5}">
                      <a16:colId xmlns:a16="http://schemas.microsoft.com/office/drawing/2014/main" val="2837193633"/>
                    </a:ext>
                  </a:extLst>
                </a:gridCol>
                <a:gridCol w="1895168">
                  <a:extLst>
                    <a:ext uri="{9D8B030D-6E8A-4147-A177-3AD203B41FA5}">
                      <a16:colId xmlns:a16="http://schemas.microsoft.com/office/drawing/2014/main" val="2654679390"/>
                    </a:ext>
                  </a:extLst>
                </a:gridCol>
              </a:tblGrid>
              <a:tr h="420668">
                <a:tc>
                  <a:txBody>
                    <a:bodyPr/>
                    <a:lstStyle/>
                    <a:p>
                      <a:pPr marL="0" algn="l" defTabSz="914400" rtl="0" eaLnBrk="1" latinLnBrk="0" hangingPunct="1"/>
                      <a:r>
                        <a:rPr lang="en-US" sz="1600" b="1" kern="1200" dirty="0">
                          <a:solidFill>
                            <a:schemeClr val="tx1"/>
                          </a:solidFill>
                          <a:latin typeface="+mn-lt"/>
                          <a:ea typeface="+mn-ea"/>
                          <a:cs typeface="+mn-cs"/>
                        </a:rPr>
                        <a:t>Team Member </a:t>
                      </a:r>
                    </a:p>
                  </a:txBody>
                  <a:tcPr>
                    <a:solidFill>
                      <a:schemeClr val="accent2">
                        <a:lumMod val="40000"/>
                        <a:lumOff val="60000"/>
                      </a:schemeClr>
                    </a:solidFill>
                  </a:tcPr>
                </a:tc>
                <a:tc>
                  <a:txBody>
                    <a:bodyPr/>
                    <a:lstStyle/>
                    <a:p>
                      <a:pPr marL="0" algn="l" defTabSz="914400" rtl="0" eaLnBrk="1" latinLnBrk="0" hangingPunct="1"/>
                      <a:r>
                        <a:rPr lang="en-US" sz="1600" b="1" kern="1200" dirty="0">
                          <a:solidFill>
                            <a:schemeClr val="tx1"/>
                          </a:solidFill>
                          <a:latin typeface="+mn-lt"/>
                          <a:ea typeface="+mn-ea"/>
                          <a:cs typeface="+mn-cs"/>
                        </a:rPr>
                        <a:t>Key Task(s)</a:t>
                      </a:r>
                    </a:p>
                  </a:txBody>
                  <a:tcPr>
                    <a:solidFill>
                      <a:schemeClr val="accent2">
                        <a:lumMod val="40000"/>
                        <a:lumOff val="60000"/>
                      </a:schemeClr>
                    </a:solidFill>
                  </a:tcPr>
                </a:tc>
                <a:tc>
                  <a:txBody>
                    <a:bodyPr/>
                    <a:lstStyle/>
                    <a:p>
                      <a:r>
                        <a:rPr lang="en-US" sz="1600" dirty="0">
                          <a:solidFill>
                            <a:schemeClr val="tx1"/>
                          </a:solidFill>
                        </a:rPr>
                        <a:t>Hours Logged</a:t>
                      </a:r>
                    </a:p>
                  </a:txBody>
                  <a:tcPr>
                    <a:solidFill>
                      <a:schemeClr val="accent2">
                        <a:lumMod val="40000"/>
                        <a:lumOff val="60000"/>
                      </a:schemeClr>
                    </a:solidFill>
                  </a:tcPr>
                </a:tc>
                <a:extLst>
                  <a:ext uri="{0D108BD9-81ED-4DB2-BD59-A6C34878D82A}">
                    <a16:rowId xmlns:a16="http://schemas.microsoft.com/office/drawing/2014/main" val="3403265499"/>
                  </a:ext>
                </a:extLst>
              </a:tr>
              <a:tr h="2843978">
                <a:tc>
                  <a:txBody>
                    <a:bodyPr/>
                    <a:lstStyle/>
                    <a:p>
                      <a:r>
                        <a:rPr lang="en-US" sz="1600" dirty="0"/>
                        <a:t>Salman Maarouf (PM)</a:t>
                      </a:r>
                    </a:p>
                  </a:txBody>
                  <a:tcPr>
                    <a:solidFill>
                      <a:schemeClr val="accent2">
                        <a:lumMod val="40000"/>
                        <a:lumOff val="60000"/>
                      </a:schemeClr>
                    </a:solidFill>
                  </a:tcPr>
                </a:tc>
                <a:tc>
                  <a:txBody>
                    <a:bodyPr/>
                    <a:lstStyle/>
                    <a:p>
                      <a:pPr marL="285750" indent="-285750">
                        <a:buFont typeface="Arial" panose="020B0604020202020204" pitchFamily="34" charset="0"/>
                        <a:buChar char="•"/>
                      </a:pPr>
                      <a:r>
                        <a:rPr lang="en-US" sz="1600" dirty="0"/>
                        <a:t>S1W1 Update Tasks on Planner week: 60</a:t>
                      </a:r>
                    </a:p>
                    <a:p>
                      <a:pPr marL="285750" indent="-285750">
                        <a:buFont typeface="Arial" panose="020B0604020202020204" pitchFamily="34" charset="0"/>
                        <a:buChar char="•"/>
                      </a:pPr>
                      <a:r>
                        <a:rPr lang="en-US" sz="1600" dirty="0"/>
                        <a:t>S1W1 VXLab Introduction: 90</a:t>
                      </a:r>
                    </a:p>
                    <a:p>
                      <a:pPr marL="285750" indent="-285750">
                        <a:buFont typeface="Arial" panose="020B0604020202020204" pitchFamily="34" charset="0"/>
                        <a:buChar char="•"/>
                      </a:pPr>
                      <a:r>
                        <a:rPr lang="en-US" sz="1600" dirty="0"/>
                        <a:t>S1W1 Integrate new tasks by BA for S1W1: 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Signed up to get access to VXLab: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Update Master Doc and submit W1: 120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VXLab and Haku (pepper robot) Induction: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Writing Friday meeting agenda: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a:t>
                      </a:r>
                      <a:r>
                        <a:rPr lang="en-US" sz="1600" dirty="0" err="1"/>
                        <a:t>Finalise</a:t>
                      </a:r>
                      <a:r>
                        <a:rPr lang="en-US" sz="1600" dirty="0"/>
                        <a:t> client project proposal: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Final Review and submission: 90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Update Tasks on Planner Board: 45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Design Human-Robot Interaction Wireframes: 90</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t>16 Hours</a:t>
                      </a:r>
                    </a:p>
                  </a:txBody>
                  <a:tcPr>
                    <a:solidFill>
                      <a:schemeClr val="accent2">
                        <a:lumMod val="40000"/>
                        <a:lumOff val="60000"/>
                      </a:schemeClr>
                    </a:solidFill>
                  </a:tcPr>
                </a:tc>
                <a:extLst>
                  <a:ext uri="{0D108BD9-81ED-4DB2-BD59-A6C34878D82A}">
                    <a16:rowId xmlns:a16="http://schemas.microsoft.com/office/drawing/2014/main" val="4233834299"/>
                  </a:ext>
                </a:extLst>
              </a:tr>
              <a:tr h="1843898">
                <a:tc>
                  <a:txBody>
                    <a:bodyPr/>
                    <a:lstStyle/>
                    <a:p>
                      <a:r>
                        <a:rPr lang="en-US" sz="1600" dirty="0"/>
                        <a:t>Aiza Fontanilla (DEV 1)</a:t>
                      </a:r>
                    </a:p>
                  </a:txBody>
                  <a:tcPr>
                    <a:solidFill>
                      <a:schemeClr val="accent2">
                        <a:lumMod val="40000"/>
                        <a:lumOff val="60000"/>
                      </a:schemeClr>
                    </a:solidFill>
                  </a:tcPr>
                </a:tc>
                <a:tc>
                  <a:txBody>
                    <a:bodyPr/>
                    <a:lstStyle/>
                    <a:p>
                      <a:pPr marL="285750" indent="-285750">
                        <a:buFont typeface="Arial" panose="020B0604020202020204" pitchFamily="34" charset="0"/>
                        <a:buChar char="•"/>
                      </a:pPr>
                      <a:r>
                        <a:rPr lang="en-US" sz="1600" dirty="0"/>
                        <a:t>S1W1 Research Haku Pepper Robot: 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Signed up to get access to VXLab: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VXLab Introduction: 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VXLab and Haku (pepper robot) Induction: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a:t>
                      </a:r>
                      <a:r>
                        <a:rPr lang="en-US" sz="1600" dirty="0" err="1"/>
                        <a:t>Finalise</a:t>
                      </a:r>
                      <a:r>
                        <a:rPr lang="en-US" sz="1600" dirty="0"/>
                        <a:t> client project proposal: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Playback Presentation Preparation: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Bootstrap Development Environment in VXLab: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Bootstrap Speech-to-text + LLM Pipeline Scaffolding: 180</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t>15 Hours</a:t>
                      </a:r>
                    </a:p>
                  </a:txBody>
                  <a:tcPr>
                    <a:solidFill>
                      <a:schemeClr val="accent2">
                        <a:lumMod val="40000"/>
                        <a:lumOff val="60000"/>
                      </a:schemeClr>
                    </a:solidFill>
                  </a:tcPr>
                </a:tc>
                <a:extLst>
                  <a:ext uri="{0D108BD9-81ED-4DB2-BD59-A6C34878D82A}">
                    <a16:rowId xmlns:a16="http://schemas.microsoft.com/office/drawing/2014/main" val="1598867801"/>
                  </a:ext>
                </a:extLst>
              </a:tr>
            </a:tbl>
          </a:graphicData>
        </a:graphic>
      </p:graphicFrame>
    </p:spTree>
    <p:extLst>
      <p:ext uri="{BB962C8B-B14F-4D97-AF65-F5344CB8AC3E}">
        <p14:creationId xmlns:p14="http://schemas.microsoft.com/office/powerpoint/2010/main" val="9535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E08A4-ED22-F9E8-F4BA-6C83EA612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D1581-8051-F3FF-9A71-80D630DE4565}"/>
              </a:ext>
            </a:extLst>
          </p:cNvPr>
          <p:cNvSpPr>
            <a:spLocks noGrp="1"/>
          </p:cNvSpPr>
          <p:nvPr>
            <p:ph type="ctrTitle"/>
          </p:nvPr>
        </p:nvSpPr>
        <p:spPr>
          <a:xfrm>
            <a:off x="447438" y="437605"/>
            <a:ext cx="8683753" cy="719667"/>
          </a:xfrm>
        </p:spPr>
        <p:txBody>
          <a:bodyPr>
            <a:noAutofit/>
          </a:bodyPr>
          <a:lstStyle/>
          <a:p>
            <a:r>
              <a:rPr lang="en-US" sz="4400" dirty="0">
                <a:solidFill>
                  <a:srgbClr val="114EF8"/>
                </a:solidFill>
              </a:rPr>
              <a:t>Task Allocation and Time Spent </a:t>
            </a:r>
          </a:p>
        </p:txBody>
      </p:sp>
      <p:graphicFrame>
        <p:nvGraphicFramePr>
          <p:cNvPr id="5" name="Table 4">
            <a:extLst>
              <a:ext uri="{FF2B5EF4-FFF2-40B4-BE49-F238E27FC236}">
                <a16:creationId xmlns:a16="http://schemas.microsoft.com/office/drawing/2014/main" id="{4F1704B0-7144-044A-7AD5-FD790DDAC5AD}"/>
              </a:ext>
            </a:extLst>
          </p:cNvPr>
          <p:cNvGraphicFramePr>
            <a:graphicFrameLocks noGrp="1"/>
          </p:cNvGraphicFramePr>
          <p:nvPr>
            <p:extLst>
              <p:ext uri="{D42A27DB-BD31-4B8C-83A1-F6EECF244321}">
                <p14:modId xmlns:p14="http://schemas.microsoft.com/office/powerpoint/2010/main" val="273282075"/>
              </p:ext>
            </p:extLst>
          </p:nvPr>
        </p:nvGraphicFramePr>
        <p:xfrm>
          <a:off x="447438" y="1252437"/>
          <a:ext cx="11297125" cy="4907280"/>
        </p:xfrm>
        <a:graphic>
          <a:graphicData uri="http://schemas.openxmlformats.org/drawingml/2006/table">
            <a:tbl>
              <a:tblPr firstRow="1" bandRow="1">
                <a:tableStyleId>{5C22544A-7EE6-4342-B048-85BDC9FD1C3A}</a:tableStyleId>
              </a:tblPr>
              <a:tblGrid>
                <a:gridCol w="1516849">
                  <a:extLst>
                    <a:ext uri="{9D8B030D-6E8A-4147-A177-3AD203B41FA5}">
                      <a16:colId xmlns:a16="http://schemas.microsoft.com/office/drawing/2014/main" val="1954800150"/>
                    </a:ext>
                  </a:extLst>
                </a:gridCol>
                <a:gridCol w="6539633">
                  <a:extLst>
                    <a:ext uri="{9D8B030D-6E8A-4147-A177-3AD203B41FA5}">
                      <a16:colId xmlns:a16="http://schemas.microsoft.com/office/drawing/2014/main" val="1995153907"/>
                    </a:ext>
                  </a:extLst>
                </a:gridCol>
                <a:gridCol w="3240643">
                  <a:extLst>
                    <a:ext uri="{9D8B030D-6E8A-4147-A177-3AD203B41FA5}">
                      <a16:colId xmlns:a16="http://schemas.microsoft.com/office/drawing/2014/main" val="2865293411"/>
                    </a:ext>
                  </a:extLst>
                </a:gridCol>
              </a:tblGrid>
              <a:tr h="622916">
                <a:tc>
                  <a:txBody>
                    <a:bodyPr/>
                    <a:lstStyle/>
                    <a:p>
                      <a:r>
                        <a:rPr lang="en-US" sz="1600" b="0" kern="1200" dirty="0">
                          <a:solidFill>
                            <a:schemeClr val="dk1"/>
                          </a:solidFill>
                          <a:latin typeface="+mn-lt"/>
                          <a:ea typeface="+mn-ea"/>
                          <a:cs typeface="+mn-cs"/>
                        </a:rPr>
                        <a:t>Luka Grganovic (DEV 2)</a:t>
                      </a:r>
                    </a:p>
                  </a:txBody>
                  <a:tcPr>
                    <a:solidFill>
                      <a:schemeClr val="accent2">
                        <a:lumMod val="40000"/>
                        <a:lumOff val="60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S1W1 Research Haku Pepper Robot: 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S1W1 Signed up to get access to VXLab: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S1W2 VXLab and Haku (pepper robot) Induction: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S1W3 Playback Presentation Preparation: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S1W3 Bootstrap Development Environment in VXLab: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chemeClr val="dk1"/>
                          </a:solidFill>
                          <a:latin typeface="+mn-lt"/>
                          <a:ea typeface="+mn-ea"/>
                          <a:cs typeface="+mn-cs"/>
                        </a:rPr>
                        <a:t>S1W3 Bootstrap Speech-to-text + LLM Pipeline Scaffolding: 180</a:t>
                      </a:r>
                    </a:p>
                  </a:txBody>
                  <a:tcPr>
                    <a:solidFill>
                      <a:schemeClr val="accent2">
                        <a:lumMod val="40000"/>
                        <a:lumOff val="60000"/>
                      </a:schemeClr>
                    </a:solidFill>
                  </a:tcPr>
                </a:tc>
                <a:tc>
                  <a:txBody>
                    <a:bodyPr/>
                    <a:lstStyle/>
                    <a:p>
                      <a:r>
                        <a:rPr lang="en-US" sz="1600" b="0" kern="1200" dirty="0">
                          <a:solidFill>
                            <a:schemeClr val="dk1"/>
                          </a:solidFill>
                          <a:latin typeface="+mn-lt"/>
                          <a:ea typeface="+mn-ea"/>
                          <a:cs typeface="+mn-cs"/>
                        </a:rPr>
                        <a:t>11 hours</a:t>
                      </a:r>
                    </a:p>
                  </a:txBody>
                  <a:tcPr>
                    <a:solidFill>
                      <a:schemeClr val="accent2">
                        <a:lumMod val="40000"/>
                        <a:lumOff val="60000"/>
                      </a:schemeClr>
                    </a:solidFill>
                  </a:tcPr>
                </a:tc>
                <a:extLst>
                  <a:ext uri="{0D108BD9-81ED-4DB2-BD59-A6C34878D82A}">
                    <a16:rowId xmlns:a16="http://schemas.microsoft.com/office/drawing/2014/main" val="3718160075"/>
                  </a:ext>
                </a:extLst>
              </a:tr>
              <a:tr h="622916">
                <a:tc>
                  <a:txBody>
                    <a:bodyPr/>
                    <a:lstStyle/>
                    <a:p>
                      <a:r>
                        <a:rPr lang="en-US" sz="1600" dirty="0"/>
                        <a:t>Turin Sayed (UX)</a:t>
                      </a:r>
                    </a:p>
                  </a:txBody>
                  <a:tcPr>
                    <a:solidFill>
                      <a:schemeClr val="accent2">
                        <a:lumMod val="40000"/>
                        <a:lumOff val="60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Signed up to get access to VXLab: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VXLab Introduction: 90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a:t>
                      </a:r>
                      <a:r>
                        <a:rPr lang="en-US" sz="1600" dirty="0" err="1"/>
                        <a:t>Finalise</a:t>
                      </a:r>
                      <a:r>
                        <a:rPr lang="en-US" sz="1600" dirty="0"/>
                        <a:t> client project proposal: 180</a:t>
                      </a:r>
                    </a:p>
                  </a:txBody>
                  <a:tcPr>
                    <a:solidFill>
                      <a:schemeClr val="accent2">
                        <a:lumMod val="40000"/>
                        <a:lumOff val="60000"/>
                      </a:schemeClr>
                    </a:solidFill>
                  </a:tcPr>
                </a:tc>
                <a:tc>
                  <a:txBody>
                    <a:bodyPr/>
                    <a:lstStyle/>
                    <a:p>
                      <a:r>
                        <a:rPr lang="en-US" sz="1600" dirty="0"/>
                        <a:t>5 hours</a:t>
                      </a:r>
                    </a:p>
                  </a:txBody>
                  <a:tcPr>
                    <a:solidFill>
                      <a:schemeClr val="accent2">
                        <a:lumMod val="40000"/>
                        <a:lumOff val="60000"/>
                      </a:schemeClr>
                    </a:solidFill>
                  </a:tcPr>
                </a:tc>
                <a:extLst>
                  <a:ext uri="{0D108BD9-81ED-4DB2-BD59-A6C34878D82A}">
                    <a16:rowId xmlns:a16="http://schemas.microsoft.com/office/drawing/2014/main" val="91033803"/>
                  </a:ext>
                </a:extLst>
              </a:tr>
              <a:tr h="622916">
                <a:tc>
                  <a:txBody>
                    <a:bodyPr/>
                    <a:lstStyle/>
                    <a:p>
                      <a:r>
                        <a:rPr lang="en-US" sz="1600" dirty="0"/>
                        <a:t>Aryan Gholami (BA)</a:t>
                      </a:r>
                    </a:p>
                  </a:txBody>
                  <a:tcPr>
                    <a:solidFill>
                      <a:schemeClr val="accent2">
                        <a:lumMod val="40000"/>
                        <a:lumOff val="60000"/>
                      </a:schemeClr>
                    </a:solidFill>
                  </a:tcPr>
                </a:tc>
                <a:tc>
                  <a:txBody>
                    <a:bodyPr/>
                    <a:lstStyle/>
                    <a:p>
                      <a:pPr marL="285750" indent="-285750">
                        <a:buFont typeface="Arial" panose="020B0604020202020204" pitchFamily="34" charset="0"/>
                        <a:buChar char="•"/>
                      </a:pPr>
                      <a:r>
                        <a:rPr lang="en-US" sz="1600" dirty="0"/>
                        <a:t>S1W1 Redefining Tasks for the rest of S1: 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VXLab Introduction: 90</a:t>
                      </a:r>
                    </a:p>
                    <a:p>
                      <a:pPr marL="285750" indent="-285750">
                        <a:buFont typeface="Arial" panose="020B0604020202020204" pitchFamily="34" charset="0"/>
                        <a:buChar char="•"/>
                      </a:pPr>
                      <a:r>
                        <a:rPr lang="en-US" sz="1600" dirty="0"/>
                        <a:t>S1W1 Plan out Friday meeting agenda: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S1W1 Signed up to get access to VXLab: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VXLab and Haku (pepper robot) Induction: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a:t>
                      </a:r>
                      <a:r>
                        <a:rPr lang="en-US" sz="1600" dirty="0" err="1"/>
                        <a:t>Finalise</a:t>
                      </a:r>
                      <a:r>
                        <a:rPr lang="en-US" sz="1600" dirty="0"/>
                        <a:t> client project proposal: 180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S1W2 Reassigning and allocating tasks for S1W3: 90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Create requirements document for user story boards: 90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Playback Presentation Preparation: 30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S1W3  Review/Validate Development Environment: 60</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t>15 hours</a:t>
                      </a:r>
                    </a:p>
                  </a:txBody>
                  <a:tcPr>
                    <a:solidFill>
                      <a:schemeClr val="accent2">
                        <a:lumMod val="40000"/>
                        <a:lumOff val="60000"/>
                      </a:schemeClr>
                    </a:solidFill>
                  </a:tcPr>
                </a:tc>
                <a:extLst>
                  <a:ext uri="{0D108BD9-81ED-4DB2-BD59-A6C34878D82A}">
                    <a16:rowId xmlns:a16="http://schemas.microsoft.com/office/drawing/2014/main" val="565402463"/>
                  </a:ext>
                </a:extLst>
              </a:tr>
            </a:tbl>
          </a:graphicData>
        </a:graphic>
      </p:graphicFrame>
    </p:spTree>
    <p:extLst>
      <p:ext uri="{BB962C8B-B14F-4D97-AF65-F5344CB8AC3E}">
        <p14:creationId xmlns:p14="http://schemas.microsoft.com/office/powerpoint/2010/main" val="3436012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5650-A226-41A4-CDE1-E3D6C977E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51E83-24EF-8514-727E-AB4B016D6056}"/>
              </a:ext>
            </a:extLst>
          </p:cNvPr>
          <p:cNvSpPr>
            <a:spLocks noGrp="1"/>
          </p:cNvSpPr>
          <p:nvPr>
            <p:ph type="ctrTitle"/>
          </p:nvPr>
        </p:nvSpPr>
        <p:spPr>
          <a:xfrm>
            <a:off x="612647" y="751115"/>
            <a:ext cx="8683753" cy="719667"/>
          </a:xfrm>
        </p:spPr>
        <p:txBody>
          <a:bodyPr>
            <a:noAutofit/>
          </a:bodyPr>
          <a:lstStyle/>
          <a:p>
            <a:r>
              <a:rPr lang="en-US" sz="4400" dirty="0">
                <a:solidFill>
                  <a:srgbClr val="114EF8"/>
                </a:solidFill>
              </a:rPr>
              <a:t>Timeline and Next Steps</a:t>
            </a:r>
          </a:p>
        </p:txBody>
      </p:sp>
      <p:sp>
        <p:nvSpPr>
          <p:cNvPr id="3" name="Subtitle 2">
            <a:extLst>
              <a:ext uri="{FF2B5EF4-FFF2-40B4-BE49-F238E27FC236}">
                <a16:creationId xmlns:a16="http://schemas.microsoft.com/office/drawing/2014/main" id="{E5356873-FDB1-F3E8-26DC-D7BF78871B9E}"/>
              </a:ext>
            </a:extLst>
          </p:cNvPr>
          <p:cNvSpPr>
            <a:spLocks noGrp="1"/>
          </p:cNvSpPr>
          <p:nvPr>
            <p:ph type="subTitle" idx="1"/>
          </p:nvPr>
        </p:nvSpPr>
        <p:spPr>
          <a:xfrm>
            <a:off x="612647" y="1936449"/>
            <a:ext cx="4886816" cy="4247121"/>
          </a:xfrm>
        </p:spPr>
        <p:txBody>
          <a:bodyPr/>
          <a:lstStyle/>
          <a:p>
            <a:r>
              <a:rPr lang="en-US" b="1" dirty="0">
                <a:solidFill>
                  <a:srgbClr val="F56146"/>
                </a:solidFill>
              </a:rPr>
              <a:t>Major events this sprint</a:t>
            </a:r>
          </a:p>
          <a:p>
            <a:pPr marL="285750" indent="-285750">
              <a:buFont typeface="Arial" panose="020B0604020202020204" pitchFamily="34" charset="0"/>
              <a:buChar char="•"/>
            </a:pPr>
            <a:r>
              <a:rPr lang="en-US" b="1" dirty="0">
                <a:solidFill>
                  <a:srgbClr val="F56146"/>
                </a:solidFill>
              </a:rPr>
              <a:t>Supervisor meeting with Alessio</a:t>
            </a:r>
          </a:p>
          <a:p>
            <a:pPr marL="285750" indent="-285750">
              <a:buFont typeface="Arial" panose="020B0604020202020204" pitchFamily="34" charset="0"/>
              <a:buChar char="•"/>
            </a:pPr>
            <a:r>
              <a:rPr lang="en-US" b="1" dirty="0">
                <a:solidFill>
                  <a:srgbClr val="F56146"/>
                </a:solidFill>
              </a:rPr>
              <a:t>Introductory meeting with </a:t>
            </a:r>
            <a:r>
              <a:rPr lang="en-US" b="1" dirty="0" err="1">
                <a:solidFill>
                  <a:srgbClr val="F56146"/>
                </a:solidFill>
              </a:rPr>
              <a:t>Milindi</a:t>
            </a:r>
            <a:endParaRPr lang="en-US" b="1" dirty="0">
              <a:solidFill>
                <a:srgbClr val="F56146"/>
              </a:solidFill>
            </a:endParaRPr>
          </a:p>
          <a:p>
            <a:pPr marL="285750" indent="-285750">
              <a:buFont typeface="Arial" panose="020B0604020202020204" pitchFamily="34" charset="0"/>
              <a:buChar char="•"/>
            </a:pPr>
            <a:r>
              <a:rPr lang="en-US" b="1" dirty="0">
                <a:solidFill>
                  <a:srgbClr val="F56146"/>
                </a:solidFill>
              </a:rPr>
              <a:t>XVLab Introduction </a:t>
            </a:r>
          </a:p>
          <a:p>
            <a:pPr marL="285750" indent="-285750">
              <a:buFont typeface="Arial" panose="020B0604020202020204" pitchFamily="34" charset="0"/>
              <a:buChar char="•"/>
            </a:pPr>
            <a:r>
              <a:rPr lang="en-US" b="1" dirty="0">
                <a:solidFill>
                  <a:srgbClr val="F56146"/>
                </a:solidFill>
              </a:rPr>
              <a:t>VXLab Induction</a:t>
            </a:r>
          </a:p>
          <a:p>
            <a:pPr marL="285750" indent="-285750">
              <a:buFont typeface="Arial" panose="020B0604020202020204" pitchFamily="34" charset="0"/>
              <a:buChar char="•"/>
            </a:pPr>
            <a:r>
              <a:rPr lang="en-US" b="1" dirty="0">
                <a:solidFill>
                  <a:srgbClr val="F56146"/>
                </a:solidFill>
              </a:rPr>
              <a:t>Client </a:t>
            </a:r>
            <a:r>
              <a:rPr lang="en-US" b="1" dirty="0" err="1">
                <a:solidFill>
                  <a:srgbClr val="F56146"/>
                </a:solidFill>
              </a:rPr>
              <a:t>Propsal</a:t>
            </a:r>
            <a:r>
              <a:rPr lang="en-US" b="1" dirty="0">
                <a:solidFill>
                  <a:srgbClr val="F56146"/>
                </a:solidFill>
              </a:rPr>
              <a:t> Meeting</a:t>
            </a:r>
          </a:p>
          <a:p>
            <a:pPr marL="285750" indent="-285750">
              <a:buFont typeface="Arial" panose="020B0604020202020204" pitchFamily="34" charset="0"/>
              <a:buChar char="•"/>
            </a:pPr>
            <a:r>
              <a:rPr lang="en-US" b="1" dirty="0">
                <a:solidFill>
                  <a:srgbClr val="F56146"/>
                </a:solidFill>
              </a:rPr>
              <a:t>Bootstrap Repository</a:t>
            </a:r>
          </a:p>
          <a:p>
            <a:pPr marL="285750" indent="-285750">
              <a:buFont typeface="Arial" panose="020B0604020202020204" pitchFamily="34" charset="0"/>
              <a:buChar char="•"/>
            </a:pPr>
            <a:r>
              <a:rPr lang="en-US" b="1" dirty="0">
                <a:solidFill>
                  <a:srgbClr val="F56146"/>
                </a:solidFill>
              </a:rPr>
              <a:t>Design User Stories</a:t>
            </a:r>
          </a:p>
          <a:p>
            <a:pPr marL="285750" indent="-285750">
              <a:buFont typeface="Arial" panose="020B0604020202020204" pitchFamily="34" charset="0"/>
              <a:buChar char="•"/>
            </a:pPr>
            <a:r>
              <a:rPr lang="en-US" b="1" dirty="0">
                <a:solidFill>
                  <a:srgbClr val="F56146"/>
                </a:solidFill>
              </a:rPr>
              <a:t>Research and Implement LLMs </a:t>
            </a:r>
          </a:p>
          <a:p>
            <a:endParaRPr lang="en-US" dirty="0"/>
          </a:p>
        </p:txBody>
      </p:sp>
      <p:sp>
        <p:nvSpPr>
          <p:cNvPr id="6" name="TextBox 5">
            <a:extLst>
              <a:ext uri="{FF2B5EF4-FFF2-40B4-BE49-F238E27FC236}">
                <a16:creationId xmlns:a16="http://schemas.microsoft.com/office/drawing/2014/main" id="{F78B8AE8-5D5D-9C31-010C-9FD2969E8538}"/>
              </a:ext>
            </a:extLst>
          </p:cNvPr>
          <p:cNvSpPr txBox="1"/>
          <p:nvPr/>
        </p:nvSpPr>
        <p:spPr>
          <a:xfrm>
            <a:off x="7204165" y="1936449"/>
            <a:ext cx="6100354" cy="923330"/>
          </a:xfrm>
          <a:prstGeom prst="rect">
            <a:avLst/>
          </a:prstGeom>
          <a:noFill/>
        </p:spPr>
        <p:txBody>
          <a:bodyPr wrap="square">
            <a:spAutoFit/>
          </a:bodyPr>
          <a:lstStyle/>
          <a:p>
            <a:r>
              <a:rPr lang="en-US" b="1" dirty="0">
                <a:solidFill>
                  <a:srgbClr val="F56146"/>
                </a:solidFill>
              </a:rPr>
              <a:t>What’s next</a:t>
            </a:r>
          </a:p>
          <a:p>
            <a:pPr marL="285750" indent="-285750">
              <a:buFont typeface="Arial" panose="020B0604020202020204" pitchFamily="34" charset="0"/>
              <a:buChar char="•"/>
            </a:pPr>
            <a:r>
              <a:rPr lang="en-US" b="1" dirty="0">
                <a:solidFill>
                  <a:srgbClr val="F56146"/>
                </a:solidFill>
              </a:rPr>
              <a:t>MVP</a:t>
            </a:r>
          </a:p>
          <a:p>
            <a:endParaRPr lang="en-US" sz="1800" dirty="0"/>
          </a:p>
        </p:txBody>
      </p:sp>
    </p:spTree>
    <p:extLst>
      <p:ext uri="{BB962C8B-B14F-4D97-AF65-F5344CB8AC3E}">
        <p14:creationId xmlns:p14="http://schemas.microsoft.com/office/powerpoint/2010/main" val="27782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D092D-947E-F62C-5CDB-B70BEF0A6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E33E4-8775-98C2-1C4B-F046427034CE}"/>
              </a:ext>
            </a:extLst>
          </p:cNvPr>
          <p:cNvSpPr>
            <a:spLocks noGrp="1"/>
          </p:cNvSpPr>
          <p:nvPr>
            <p:ph type="ctrTitle"/>
          </p:nvPr>
        </p:nvSpPr>
        <p:spPr>
          <a:xfrm>
            <a:off x="634418" y="607424"/>
            <a:ext cx="8683753" cy="719667"/>
          </a:xfrm>
        </p:spPr>
        <p:txBody>
          <a:bodyPr>
            <a:noAutofit/>
          </a:bodyPr>
          <a:lstStyle/>
          <a:p>
            <a:r>
              <a:rPr lang="en-US" sz="4400" dirty="0">
                <a:solidFill>
                  <a:srgbClr val="114EF8"/>
                </a:solidFill>
              </a:rPr>
              <a:t>Aryan Gholami (BA)</a:t>
            </a:r>
          </a:p>
        </p:txBody>
      </p:sp>
      <p:sp>
        <p:nvSpPr>
          <p:cNvPr id="3" name="Subtitle 2">
            <a:extLst>
              <a:ext uri="{FF2B5EF4-FFF2-40B4-BE49-F238E27FC236}">
                <a16:creationId xmlns:a16="http://schemas.microsoft.com/office/drawing/2014/main" id="{1AD61CFC-430A-5F38-0563-355C04478254}"/>
              </a:ext>
            </a:extLst>
          </p:cNvPr>
          <p:cNvSpPr>
            <a:spLocks noGrp="1"/>
          </p:cNvSpPr>
          <p:nvPr>
            <p:ph type="subTitle" idx="1"/>
          </p:nvPr>
        </p:nvSpPr>
        <p:spPr>
          <a:xfrm>
            <a:off x="634418" y="2003455"/>
            <a:ext cx="10778164" cy="4247121"/>
          </a:xfrm>
        </p:spPr>
        <p:txBody>
          <a:bodyPr>
            <a:normAutofit/>
          </a:bodyPr>
          <a:lstStyle/>
          <a:p>
            <a:pPr marL="285750" lvl="0" indent="-285750">
              <a:buFont typeface="Arial" panose="020B0604020202020204" pitchFamily="34" charset="0"/>
              <a:buChar char="•"/>
            </a:pPr>
            <a:r>
              <a:rPr lang="en-AU" b="1" dirty="0">
                <a:solidFill>
                  <a:srgbClr val="F56146"/>
                </a:solidFill>
              </a:rPr>
              <a:t>Task Allocation</a:t>
            </a:r>
          </a:p>
          <a:p>
            <a:pPr marL="285750" lvl="0" indent="-285750">
              <a:buFont typeface="Arial" panose="020B0604020202020204" pitchFamily="34" charset="0"/>
              <a:buChar char="•"/>
            </a:pPr>
            <a:r>
              <a:rPr lang="en-AU" b="1" dirty="0">
                <a:solidFill>
                  <a:srgbClr val="F56146"/>
                </a:solidFill>
              </a:rPr>
              <a:t>Ideation Workshop</a:t>
            </a:r>
          </a:p>
          <a:p>
            <a:pPr marL="285750" lvl="0" indent="-285750">
              <a:buFont typeface="Arial" panose="020B0604020202020204" pitchFamily="34" charset="0"/>
              <a:buChar char="•"/>
            </a:pPr>
            <a:r>
              <a:rPr lang="en-AU" b="1" dirty="0">
                <a:solidFill>
                  <a:srgbClr val="F56146"/>
                </a:solidFill>
              </a:rPr>
              <a:t>Documentation</a:t>
            </a:r>
          </a:p>
          <a:p>
            <a:pPr marL="285750" lvl="0" indent="-285750">
              <a:buFont typeface="Arial" panose="020B0604020202020204" pitchFamily="34" charset="0"/>
              <a:buChar char="•"/>
            </a:pPr>
            <a:r>
              <a:rPr lang="en-AU" b="1" dirty="0">
                <a:solidFill>
                  <a:srgbClr val="F56146"/>
                </a:solidFill>
              </a:rPr>
              <a:t>QA &amp; Review</a:t>
            </a:r>
            <a:endParaRPr lang="en-AU" dirty="0">
              <a:solidFill>
                <a:srgbClr val="F56146"/>
              </a:solidFill>
            </a:endParaRPr>
          </a:p>
          <a:p>
            <a:pPr marL="285750" lvl="0" indent="-285750">
              <a:buFont typeface="Arial" panose="020B0604020202020204" pitchFamily="34" charset="0"/>
              <a:buChar char="•"/>
            </a:pPr>
            <a:r>
              <a:rPr lang="en-AU" b="1" dirty="0">
                <a:solidFill>
                  <a:srgbClr val="F56146"/>
                </a:solidFill>
              </a:rPr>
              <a:t>Project Management</a:t>
            </a:r>
            <a:endParaRPr lang="en-AU" dirty="0">
              <a:solidFill>
                <a:srgbClr val="F56146"/>
              </a:solidFill>
            </a:endParaRPr>
          </a:p>
          <a:p>
            <a:pPr marL="285750" indent="-285750">
              <a:buFont typeface="Arial" panose="020B0604020202020204" pitchFamily="34" charset="0"/>
              <a:buChar char="•"/>
            </a:pPr>
            <a:r>
              <a:rPr lang="en-AU" b="1" dirty="0">
                <a:solidFill>
                  <a:srgbClr val="F56146"/>
                </a:solidFill>
              </a:rPr>
              <a:t>Blockers &amp; Resolutions</a:t>
            </a:r>
            <a:endParaRPr lang="en-AU" dirty="0">
              <a:solidFill>
                <a:srgbClr val="F56146"/>
              </a:solidFill>
            </a:endParaRPr>
          </a:p>
          <a:p>
            <a:pPr marL="285750" lvl="0" indent="-285750">
              <a:buFont typeface="Arial" panose="020B0604020202020204" pitchFamily="34" charset="0"/>
              <a:buChar char="•"/>
            </a:pPr>
            <a:r>
              <a:rPr lang="en-AU" b="1" dirty="0">
                <a:solidFill>
                  <a:srgbClr val="F56146"/>
                </a:solidFill>
              </a:rPr>
              <a:t>Blocker</a:t>
            </a:r>
          </a:p>
          <a:p>
            <a:pPr marL="285750" lvl="0" indent="-285750">
              <a:buFont typeface="Arial" panose="020B0604020202020204" pitchFamily="34" charset="0"/>
              <a:buChar char="•"/>
            </a:pPr>
            <a:r>
              <a:rPr lang="en-AU" b="1" dirty="0">
                <a:solidFill>
                  <a:srgbClr val="F56146"/>
                </a:solidFill>
              </a:rPr>
              <a:t>Resolution</a:t>
            </a:r>
            <a:endParaRPr lang="en-AU" dirty="0">
              <a:solidFill>
                <a:srgbClr val="F56146"/>
              </a:solidFill>
            </a:endParaRPr>
          </a:p>
        </p:txBody>
      </p:sp>
    </p:spTree>
    <p:extLst>
      <p:ext uri="{BB962C8B-B14F-4D97-AF65-F5344CB8AC3E}">
        <p14:creationId xmlns:p14="http://schemas.microsoft.com/office/powerpoint/2010/main" val="387236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676511"/>
            <a:ext cx="9837573" cy="725327"/>
          </a:xfrm>
          <a:prstGeom prst="rect">
            <a:avLst/>
          </a:prstGeom>
        </p:spPr>
        <p:txBody>
          <a:bodyPr lIns="0" tIns="0" rIns="0" bIns="0" rtlCol="0" anchor="t">
            <a:spAutoFit/>
          </a:bodyPr>
          <a:lstStyle/>
          <a:p>
            <a:pPr>
              <a:lnSpc>
                <a:spcPts val="5349"/>
              </a:lnSpc>
            </a:pPr>
            <a:r>
              <a:rPr lang="en-US" sz="4400" b="1" spc="-30" dirty="0">
                <a:solidFill>
                  <a:srgbClr val="114EF8"/>
                </a:solidFill>
                <a:latin typeface="+mj-lt"/>
                <a:ea typeface="+mj-ea"/>
                <a:cs typeface="+mj-cs"/>
                <a:sym typeface="Horizon"/>
              </a:rPr>
              <a:t>AIZA’S</a:t>
            </a:r>
            <a:r>
              <a:rPr lang="en-US" sz="6368" spc="-521" dirty="0">
                <a:solidFill>
                  <a:srgbClr val="D81919"/>
                </a:solidFill>
                <a:latin typeface="Horizon"/>
                <a:ea typeface="Horizon"/>
                <a:cs typeface="Horizon"/>
                <a:sym typeface="Horizon"/>
              </a:rPr>
              <a:t> </a:t>
            </a:r>
            <a:r>
              <a:rPr lang="en-US" sz="4400" b="1" spc="-30" dirty="0">
                <a:solidFill>
                  <a:srgbClr val="114EF8"/>
                </a:solidFill>
                <a:latin typeface="+mj-lt"/>
                <a:ea typeface="+mj-ea"/>
                <a:cs typeface="+mj-cs"/>
                <a:sym typeface="Horizon"/>
              </a:rPr>
              <a:t>CONTRIBUTION (DEV 1)</a:t>
            </a:r>
          </a:p>
        </p:txBody>
      </p:sp>
      <p:grpSp>
        <p:nvGrpSpPr>
          <p:cNvPr id="3" name="Group 3"/>
          <p:cNvGrpSpPr/>
          <p:nvPr/>
        </p:nvGrpSpPr>
        <p:grpSpPr>
          <a:xfrm rot="-264300">
            <a:off x="4937246" y="1833125"/>
            <a:ext cx="3094082" cy="3583533"/>
            <a:chOff x="0" y="0"/>
            <a:chExt cx="6188164" cy="7167067"/>
          </a:xfrm>
        </p:grpSpPr>
        <p:sp>
          <p:nvSpPr>
            <p:cNvPr id="4" name="Freeform 4"/>
            <p:cNvSpPr/>
            <p:nvPr/>
          </p:nvSpPr>
          <p:spPr>
            <a:xfrm>
              <a:off x="0" y="0"/>
              <a:ext cx="6188202" cy="7167118"/>
            </a:xfrm>
            <a:custGeom>
              <a:avLst/>
              <a:gdLst/>
              <a:ahLst/>
              <a:cxnLst/>
              <a:rect l="l" t="t" r="r" b="b"/>
              <a:pathLst>
                <a:path w="6188202" h="7167118">
                  <a:moveTo>
                    <a:pt x="0" y="0"/>
                  </a:moveTo>
                  <a:lnTo>
                    <a:pt x="6188202" y="0"/>
                  </a:lnTo>
                  <a:lnTo>
                    <a:pt x="6188202" y="7167118"/>
                  </a:lnTo>
                  <a:lnTo>
                    <a:pt x="0" y="7167118"/>
                  </a:lnTo>
                  <a:lnTo>
                    <a:pt x="0" y="0"/>
                  </a:lnTo>
                  <a:close/>
                </a:path>
              </a:pathLst>
            </a:custGeom>
            <a:blipFill>
              <a:blip r:embed="rId2"/>
              <a:stretch>
                <a:fillRect l="-3" r="-2"/>
              </a:stretch>
            </a:blipFill>
          </p:spPr>
          <p:txBody>
            <a:bodyPr/>
            <a:lstStyle/>
            <a:p>
              <a:endParaRPr lang="en-US" sz="1200"/>
            </a:p>
          </p:txBody>
        </p:sp>
      </p:grpSp>
      <p:grpSp>
        <p:nvGrpSpPr>
          <p:cNvPr id="5" name="Group 5"/>
          <p:cNvGrpSpPr/>
          <p:nvPr/>
        </p:nvGrpSpPr>
        <p:grpSpPr>
          <a:xfrm rot="191460">
            <a:off x="8950852" y="1878654"/>
            <a:ext cx="3145041" cy="3642551"/>
            <a:chOff x="0" y="0"/>
            <a:chExt cx="6290081" cy="7285101"/>
          </a:xfrm>
        </p:grpSpPr>
        <p:sp>
          <p:nvSpPr>
            <p:cNvPr id="6" name="Freeform 6"/>
            <p:cNvSpPr/>
            <p:nvPr/>
          </p:nvSpPr>
          <p:spPr>
            <a:xfrm>
              <a:off x="0" y="0"/>
              <a:ext cx="6290056" cy="7285101"/>
            </a:xfrm>
            <a:custGeom>
              <a:avLst/>
              <a:gdLst/>
              <a:ahLst/>
              <a:cxnLst/>
              <a:rect l="l" t="t" r="r" b="b"/>
              <a:pathLst>
                <a:path w="6290056" h="7285101">
                  <a:moveTo>
                    <a:pt x="0" y="0"/>
                  </a:moveTo>
                  <a:lnTo>
                    <a:pt x="6290056" y="0"/>
                  </a:lnTo>
                  <a:lnTo>
                    <a:pt x="6290056" y="7285101"/>
                  </a:lnTo>
                  <a:lnTo>
                    <a:pt x="0" y="7285101"/>
                  </a:lnTo>
                  <a:lnTo>
                    <a:pt x="0" y="0"/>
                  </a:lnTo>
                  <a:close/>
                </a:path>
              </a:pathLst>
            </a:custGeom>
            <a:blipFill>
              <a:blip r:embed="rId3"/>
              <a:stretch>
                <a:fillRect t="-60" b="-60"/>
              </a:stretch>
            </a:blipFill>
          </p:spPr>
          <p:txBody>
            <a:bodyPr/>
            <a:lstStyle/>
            <a:p>
              <a:endParaRPr lang="en-US" sz="1200"/>
            </a:p>
          </p:txBody>
        </p:sp>
      </p:grpSp>
      <p:grpSp>
        <p:nvGrpSpPr>
          <p:cNvPr id="7" name="Group 7"/>
          <p:cNvGrpSpPr/>
          <p:nvPr/>
        </p:nvGrpSpPr>
        <p:grpSpPr>
          <a:xfrm>
            <a:off x="6983527" y="3204419"/>
            <a:ext cx="3050572" cy="3533140"/>
            <a:chOff x="0" y="0"/>
            <a:chExt cx="6101144" cy="7066280"/>
          </a:xfrm>
        </p:grpSpPr>
        <p:sp>
          <p:nvSpPr>
            <p:cNvPr id="8" name="Freeform 8"/>
            <p:cNvSpPr/>
            <p:nvPr/>
          </p:nvSpPr>
          <p:spPr>
            <a:xfrm>
              <a:off x="0" y="0"/>
              <a:ext cx="6101207" cy="7066280"/>
            </a:xfrm>
            <a:custGeom>
              <a:avLst/>
              <a:gdLst/>
              <a:ahLst/>
              <a:cxnLst/>
              <a:rect l="l" t="t" r="r" b="b"/>
              <a:pathLst>
                <a:path w="6101207" h="7066280">
                  <a:moveTo>
                    <a:pt x="0" y="0"/>
                  </a:moveTo>
                  <a:lnTo>
                    <a:pt x="6101207" y="0"/>
                  </a:lnTo>
                  <a:lnTo>
                    <a:pt x="6101207" y="7066280"/>
                  </a:lnTo>
                  <a:lnTo>
                    <a:pt x="0" y="7066280"/>
                  </a:lnTo>
                  <a:lnTo>
                    <a:pt x="0" y="0"/>
                  </a:lnTo>
                  <a:close/>
                </a:path>
              </a:pathLst>
            </a:custGeom>
            <a:blipFill>
              <a:blip r:embed="rId4"/>
              <a:stretch>
                <a:fillRect t="-6" r="1" b="-6"/>
              </a:stretch>
            </a:blipFill>
          </p:spPr>
          <p:txBody>
            <a:bodyPr/>
            <a:lstStyle/>
            <a:p>
              <a:endParaRPr lang="en-US" sz="1200"/>
            </a:p>
          </p:txBody>
        </p:sp>
      </p:grpSp>
      <p:sp>
        <p:nvSpPr>
          <p:cNvPr id="9" name="TextBox 9"/>
          <p:cNvSpPr txBox="1"/>
          <p:nvPr/>
        </p:nvSpPr>
        <p:spPr>
          <a:xfrm>
            <a:off x="685800" y="2340413"/>
            <a:ext cx="4266597" cy="446148"/>
          </a:xfrm>
          <a:prstGeom prst="rect">
            <a:avLst/>
          </a:prstGeom>
        </p:spPr>
        <p:txBody>
          <a:bodyPr lIns="0" tIns="0" rIns="0" bIns="0" rtlCol="0" anchor="t">
            <a:spAutoFit/>
          </a:bodyPr>
          <a:lstStyle/>
          <a:p>
            <a:pPr>
              <a:lnSpc>
                <a:spcPts val="3732"/>
              </a:lnSpc>
            </a:pPr>
            <a:r>
              <a:rPr lang="en-US" sz="2666" b="1" dirty="0">
                <a:solidFill>
                  <a:srgbClr val="F56146"/>
                </a:solidFill>
                <a:latin typeface="Poppins Bold"/>
                <a:ea typeface="Poppins Bold"/>
                <a:cs typeface="Poppins Bold"/>
                <a:sym typeface="Poppins Bold"/>
              </a:rPr>
              <a:t>01  WORKSHOP IDEATION</a:t>
            </a:r>
          </a:p>
        </p:txBody>
      </p:sp>
      <p:sp>
        <p:nvSpPr>
          <p:cNvPr id="10" name="TextBox 10"/>
          <p:cNvSpPr txBox="1"/>
          <p:nvPr/>
        </p:nvSpPr>
        <p:spPr>
          <a:xfrm>
            <a:off x="685800" y="2843435"/>
            <a:ext cx="3654584" cy="446148"/>
          </a:xfrm>
          <a:prstGeom prst="rect">
            <a:avLst/>
          </a:prstGeom>
        </p:spPr>
        <p:txBody>
          <a:bodyPr lIns="0" tIns="0" rIns="0" bIns="0" rtlCol="0" anchor="t">
            <a:spAutoFit/>
          </a:bodyPr>
          <a:lstStyle/>
          <a:p>
            <a:pPr>
              <a:lnSpc>
                <a:spcPts val="3732"/>
              </a:lnSpc>
            </a:pPr>
            <a:r>
              <a:rPr lang="en-US" sz="2666" b="1" dirty="0">
                <a:solidFill>
                  <a:srgbClr val="F56146"/>
                </a:solidFill>
                <a:latin typeface="Poppins Bold"/>
                <a:ea typeface="Poppins Bold"/>
                <a:cs typeface="Poppins Bold"/>
                <a:sym typeface="Poppins Bold"/>
              </a:rPr>
              <a:t>02 SETTING UP HAKU</a:t>
            </a:r>
          </a:p>
        </p:txBody>
      </p:sp>
      <p:sp>
        <p:nvSpPr>
          <p:cNvPr id="11" name="TextBox 11"/>
          <p:cNvSpPr txBox="1"/>
          <p:nvPr/>
        </p:nvSpPr>
        <p:spPr>
          <a:xfrm>
            <a:off x="685800" y="3346450"/>
            <a:ext cx="3200229" cy="446148"/>
          </a:xfrm>
          <a:prstGeom prst="rect">
            <a:avLst/>
          </a:prstGeom>
        </p:spPr>
        <p:txBody>
          <a:bodyPr lIns="0" tIns="0" rIns="0" bIns="0" rtlCol="0" anchor="t">
            <a:spAutoFit/>
          </a:bodyPr>
          <a:lstStyle/>
          <a:p>
            <a:pPr>
              <a:lnSpc>
                <a:spcPts val="3732"/>
              </a:lnSpc>
            </a:pPr>
            <a:r>
              <a:rPr lang="en-US" sz="2666" b="1" dirty="0">
                <a:solidFill>
                  <a:srgbClr val="F56146"/>
                </a:solidFill>
                <a:latin typeface="Poppins Bold"/>
                <a:ea typeface="Poppins Bold"/>
                <a:cs typeface="Poppins Bold"/>
                <a:sym typeface="Poppins Bold"/>
              </a:rPr>
              <a:t>03 HAKU MANUAL</a:t>
            </a:r>
          </a:p>
        </p:txBody>
      </p:sp>
      <p:sp>
        <p:nvSpPr>
          <p:cNvPr id="12" name="TextBox 12"/>
          <p:cNvSpPr txBox="1"/>
          <p:nvPr/>
        </p:nvSpPr>
        <p:spPr>
          <a:xfrm>
            <a:off x="685801" y="4248150"/>
            <a:ext cx="5323179" cy="1395126"/>
          </a:xfrm>
          <a:prstGeom prst="rect">
            <a:avLst/>
          </a:prstGeom>
        </p:spPr>
        <p:txBody>
          <a:bodyPr lIns="0" tIns="0" rIns="0" bIns="0" rtlCol="0" anchor="t">
            <a:spAutoFit/>
          </a:bodyPr>
          <a:lstStyle/>
          <a:p>
            <a:pPr>
              <a:lnSpc>
                <a:spcPts val="3732"/>
              </a:lnSpc>
            </a:pPr>
            <a:r>
              <a:rPr lang="en-US" sz="2666" b="1" dirty="0">
                <a:solidFill>
                  <a:srgbClr val="F56146"/>
                </a:solidFill>
                <a:latin typeface="Poppins Bold"/>
                <a:ea typeface="Poppins Bold"/>
                <a:cs typeface="Poppins Bold"/>
                <a:sym typeface="Poppins Bold"/>
              </a:rPr>
              <a:t>BLOCKERS:</a:t>
            </a:r>
          </a:p>
          <a:p>
            <a:pPr>
              <a:lnSpc>
                <a:spcPts val="3732"/>
              </a:lnSpc>
            </a:pPr>
            <a:r>
              <a:rPr lang="en-US" sz="2666" b="1" dirty="0">
                <a:solidFill>
                  <a:srgbClr val="F56146"/>
                </a:solidFill>
                <a:latin typeface="Poppins Bold"/>
                <a:ea typeface="Poppins Bold"/>
                <a:cs typeface="Poppins Bold"/>
                <a:sym typeface="Poppins Bold"/>
              </a:rPr>
              <a:t>→ DISAGREEMENTS</a:t>
            </a:r>
          </a:p>
          <a:p>
            <a:pPr>
              <a:lnSpc>
                <a:spcPts val="3732"/>
              </a:lnSpc>
            </a:pPr>
            <a:r>
              <a:rPr lang="en-US" sz="2666" b="1" dirty="0">
                <a:solidFill>
                  <a:srgbClr val="F56146"/>
                </a:solidFill>
                <a:latin typeface="Poppins Bold"/>
                <a:ea typeface="Poppins Bold"/>
                <a:cs typeface="Poppins Bold"/>
                <a:sym typeface="Poppins Bold"/>
              </a:rPr>
              <a:t>→ HAKU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E56A4-5283-9BA7-D470-A61534524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CFC68-167F-E3B3-EF6E-5D124EF20BA7}"/>
              </a:ext>
            </a:extLst>
          </p:cNvPr>
          <p:cNvSpPr>
            <a:spLocks noGrp="1"/>
          </p:cNvSpPr>
          <p:nvPr>
            <p:ph type="ctrTitle"/>
          </p:nvPr>
        </p:nvSpPr>
        <p:spPr>
          <a:xfrm>
            <a:off x="634418" y="607424"/>
            <a:ext cx="8683753" cy="719667"/>
          </a:xfrm>
        </p:spPr>
        <p:txBody>
          <a:bodyPr>
            <a:noAutofit/>
          </a:bodyPr>
          <a:lstStyle/>
          <a:p>
            <a:r>
              <a:rPr lang="en-US" sz="4400" dirty="0">
                <a:solidFill>
                  <a:srgbClr val="114EF8"/>
                </a:solidFill>
              </a:rPr>
              <a:t>Luka Grganovic (DEV 2) </a:t>
            </a:r>
          </a:p>
        </p:txBody>
      </p:sp>
      <p:sp>
        <p:nvSpPr>
          <p:cNvPr id="3" name="Subtitle 2">
            <a:extLst>
              <a:ext uri="{FF2B5EF4-FFF2-40B4-BE49-F238E27FC236}">
                <a16:creationId xmlns:a16="http://schemas.microsoft.com/office/drawing/2014/main" id="{BED49465-30DE-B446-A2B3-B86A8569801E}"/>
              </a:ext>
            </a:extLst>
          </p:cNvPr>
          <p:cNvSpPr>
            <a:spLocks noGrp="1"/>
          </p:cNvSpPr>
          <p:nvPr>
            <p:ph type="subTitle" idx="1"/>
          </p:nvPr>
        </p:nvSpPr>
        <p:spPr>
          <a:xfrm>
            <a:off x="612647" y="2232056"/>
            <a:ext cx="10778164" cy="4247121"/>
          </a:xfrm>
        </p:spPr>
        <p:txBody>
          <a:bodyPr>
            <a:normAutofit/>
          </a:bodyPr>
          <a:lstStyle/>
          <a:p>
            <a:pPr marL="285750" lvl="0" indent="-285750">
              <a:buFont typeface="Arial" panose="020B0604020202020204" pitchFamily="34" charset="0"/>
              <a:buChar char="•"/>
            </a:pPr>
            <a:r>
              <a:rPr lang="en-AU" b="1" dirty="0">
                <a:solidFill>
                  <a:srgbClr val="F56146"/>
                </a:solidFill>
              </a:rPr>
              <a:t>Research &amp; Access:</a:t>
            </a:r>
            <a:r>
              <a:rPr lang="en-AU" dirty="0">
                <a:solidFill>
                  <a:srgbClr val="F56146"/>
                </a:solidFill>
              </a:rPr>
              <a:t> Researched the Haku Pepper Robot and secured VXLab access.</a:t>
            </a:r>
          </a:p>
          <a:p>
            <a:pPr marL="285750" lvl="0" indent="-285750">
              <a:buFont typeface="Arial" panose="020B0604020202020204" pitchFamily="34" charset="0"/>
              <a:buChar char="•"/>
            </a:pPr>
            <a:r>
              <a:rPr lang="en-AU" b="1" dirty="0">
                <a:solidFill>
                  <a:srgbClr val="F56146"/>
                </a:solidFill>
              </a:rPr>
              <a:t>Induction:</a:t>
            </a:r>
            <a:r>
              <a:rPr lang="en-AU" dirty="0">
                <a:solidFill>
                  <a:srgbClr val="F56146"/>
                </a:solidFill>
              </a:rPr>
              <a:t> Completed the technical induction for the VXLab and Haku.</a:t>
            </a:r>
          </a:p>
          <a:p>
            <a:pPr marL="285750" lvl="0" indent="-285750">
              <a:buFont typeface="Arial" panose="020B0604020202020204" pitchFamily="34" charset="0"/>
              <a:buChar char="•"/>
            </a:pPr>
            <a:r>
              <a:rPr lang="en-AU" b="1" dirty="0">
                <a:solidFill>
                  <a:srgbClr val="F56146"/>
                </a:solidFill>
              </a:rPr>
              <a:t>Environment Setup:</a:t>
            </a:r>
            <a:r>
              <a:rPr lang="en-AU" dirty="0">
                <a:solidFill>
                  <a:srgbClr val="F56146"/>
                </a:solidFill>
              </a:rPr>
              <a:t> Bootstrapped the core development environment within the VXLab.</a:t>
            </a:r>
          </a:p>
          <a:p>
            <a:pPr marL="285750" lvl="0" indent="-285750">
              <a:buFont typeface="Arial" panose="020B0604020202020204" pitchFamily="34" charset="0"/>
              <a:buChar char="•"/>
            </a:pPr>
            <a:r>
              <a:rPr lang="en-AU" b="1" dirty="0">
                <a:solidFill>
                  <a:srgbClr val="F56146"/>
                </a:solidFill>
              </a:rPr>
              <a:t>Pipeline Scaffolding:</a:t>
            </a:r>
            <a:r>
              <a:rPr lang="en-AU" dirty="0">
                <a:solidFill>
                  <a:srgbClr val="F56146"/>
                </a:solidFill>
              </a:rPr>
              <a:t> Built the initial Speech-to-Text and LLM pipeline scaffolding.</a:t>
            </a:r>
          </a:p>
          <a:p>
            <a:pPr marL="285750" lvl="0" indent="-285750">
              <a:buFont typeface="Arial" panose="020B0604020202020204" pitchFamily="34" charset="0"/>
              <a:buChar char="•"/>
            </a:pPr>
            <a:r>
              <a:rPr lang="en-AU" b="1" dirty="0">
                <a:solidFill>
                  <a:srgbClr val="F56146"/>
                </a:solidFill>
              </a:rPr>
              <a:t>Playback Prep:</a:t>
            </a:r>
            <a:r>
              <a:rPr lang="en-AU" dirty="0">
                <a:solidFill>
                  <a:srgbClr val="F56146"/>
                </a:solidFill>
              </a:rPr>
              <a:t> Prepared materials for the Sprint 1 Playback presentation.</a:t>
            </a:r>
          </a:p>
          <a:p>
            <a:pPr lvl="0"/>
            <a:endParaRPr lang="en-AU" dirty="0">
              <a:solidFill>
                <a:srgbClr val="F56146"/>
              </a:solidFill>
            </a:endParaRPr>
          </a:p>
        </p:txBody>
      </p:sp>
    </p:spTree>
    <p:extLst>
      <p:ext uri="{BB962C8B-B14F-4D97-AF65-F5344CB8AC3E}">
        <p14:creationId xmlns:p14="http://schemas.microsoft.com/office/powerpoint/2010/main" val="950921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2867-1D7D-96B8-9202-A32A1B206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B544A-906D-ED1F-6F18-C5BD9E4A2F74}"/>
              </a:ext>
            </a:extLst>
          </p:cNvPr>
          <p:cNvSpPr>
            <a:spLocks noGrp="1"/>
          </p:cNvSpPr>
          <p:nvPr>
            <p:ph type="ctrTitle"/>
          </p:nvPr>
        </p:nvSpPr>
        <p:spPr>
          <a:xfrm>
            <a:off x="634418" y="607424"/>
            <a:ext cx="8683753" cy="719667"/>
          </a:xfrm>
        </p:spPr>
        <p:txBody>
          <a:bodyPr>
            <a:noAutofit/>
          </a:bodyPr>
          <a:lstStyle/>
          <a:p>
            <a:r>
              <a:rPr lang="en-US" sz="4400" dirty="0">
                <a:solidFill>
                  <a:srgbClr val="114EF8"/>
                </a:solidFill>
              </a:rPr>
              <a:t>Turin Sayed (UX)</a:t>
            </a:r>
          </a:p>
        </p:txBody>
      </p:sp>
      <p:sp>
        <p:nvSpPr>
          <p:cNvPr id="3" name="Subtitle 2">
            <a:extLst>
              <a:ext uri="{FF2B5EF4-FFF2-40B4-BE49-F238E27FC236}">
                <a16:creationId xmlns:a16="http://schemas.microsoft.com/office/drawing/2014/main" id="{338ACCEA-AA7C-C305-389E-21421C3BE775}"/>
              </a:ext>
            </a:extLst>
          </p:cNvPr>
          <p:cNvSpPr>
            <a:spLocks noGrp="1"/>
          </p:cNvSpPr>
          <p:nvPr>
            <p:ph type="subTitle" idx="1"/>
          </p:nvPr>
        </p:nvSpPr>
        <p:spPr>
          <a:xfrm>
            <a:off x="612647" y="2232056"/>
            <a:ext cx="10778164" cy="4247121"/>
          </a:xfrm>
        </p:spPr>
        <p:txBody>
          <a:bodyPr>
            <a:normAutofit/>
          </a:bodyPr>
          <a:lstStyle/>
          <a:p>
            <a:pPr lvl="0"/>
            <a:r>
              <a:rPr lang="en-AU" b="1" dirty="0">
                <a:solidFill>
                  <a:srgbClr val="F56146"/>
                </a:solidFill>
              </a:rPr>
              <a:t>Ideation Workshops: </a:t>
            </a:r>
            <a:r>
              <a:rPr lang="en-AU" dirty="0">
                <a:solidFill>
                  <a:srgbClr val="F56146"/>
                </a:solidFill>
              </a:rPr>
              <a:t>Explored problem areas, defined user personas, and mapped potential solutions.</a:t>
            </a:r>
            <a:endParaRPr lang="en-AU" b="1" dirty="0">
              <a:solidFill>
                <a:srgbClr val="F56146"/>
              </a:solidFill>
            </a:endParaRPr>
          </a:p>
          <a:p>
            <a:r>
              <a:rPr lang="en-AU" b="1" dirty="0">
                <a:solidFill>
                  <a:srgbClr val="F56146"/>
                </a:solidFill>
              </a:rPr>
              <a:t>Lab Induction: </a:t>
            </a:r>
            <a:r>
              <a:rPr lang="en-AU" dirty="0">
                <a:solidFill>
                  <a:srgbClr val="F56146"/>
                </a:solidFill>
              </a:rPr>
              <a:t>Assessed Haku's practical capabilities, limitations, and the physical environment.</a:t>
            </a:r>
            <a:endParaRPr lang="en-AU" b="1" dirty="0">
              <a:solidFill>
                <a:srgbClr val="F56146"/>
              </a:solidFill>
            </a:endParaRPr>
          </a:p>
          <a:p>
            <a:pPr lvl="0"/>
            <a:r>
              <a:rPr lang="en-AU" b="1" dirty="0">
                <a:solidFill>
                  <a:srgbClr val="F56146"/>
                </a:solidFill>
              </a:rPr>
              <a:t>Learning:</a:t>
            </a:r>
            <a:r>
              <a:rPr lang="en-AU" dirty="0">
                <a:solidFill>
                  <a:srgbClr val="F56146"/>
                </a:solidFill>
              </a:rPr>
              <a:t> Validated the necessity of thoroughly defining user needs before designing technical solutions.</a:t>
            </a:r>
          </a:p>
          <a:p>
            <a:pPr lvl="0"/>
            <a:endParaRPr lang="en-AU" dirty="0">
              <a:solidFill>
                <a:srgbClr val="F56146"/>
              </a:solidFill>
            </a:endParaRPr>
          </a:p>
        </p:txBody>
      </p:sp>
    </p:spTree>
    <p:extLst>
      <p:ext uri="{BB962C8B-B14F-4D97-AF65-F5344CB8AC3E}">
        <p14:creationId xmlns:p14="http://schemas.microsoft.com/office/powerpoint/2010/main" val="734081664"/>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279</TotalTime>
  <Words>2119</Words>
  <Application>Microsoft Macintosh PowerPoint</Application>
  <PresentationFormat>Widescreen</PresentationFormat>
  <Paragraphs>205</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Horizon</vt:lpstr>
      <vt:lpstr>Neue Haas Grotesk Text Pro</vt:lpstr>
      <vt:lpstr>Poppins Bold</vt:lpstr>
      <vt:lpstr>Helena</vt:lpstr>
      <vt:lpstr>Sprint 1 Playback</vt:lpstr>
      <vt:lpstr>Project Overview</vt:lpstr>
      <vt:lpstr>Original Plan</vt:lpstr>
      <vt:lpstr>Actual Achievement</vt:lpstr>
      <vt:lpstr>Why It Matters</vt:lpstr>
      <vt:lpstr>Blockers and Open Questions</vt:lpstr>
      <vt:lpstr>Task Allocation and Time Spent </vt:lpstr>
      <vt:lpstr>Task Allocation and Time Spent </vt:lpstr>
      <vt:lpstr>Timeline and Next Steps</vt:lpstr>
      <vt:lpstr>Aryan Gholami (BA)</vt:lpstr>
      <vt:lpstr>PowerPoint Presentation</vt:lpstr>
      <vt:lpstr>Luka Grganovic (DEV 2) </vt:lpstr>
      <vt:lpstr>Turin Sayed (UX)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Salman Maarouf</dc:creator>
  <cp:lastModifiedBy>Salman Maarouf</cp:lastModifiedBy>
  <cp:revision>5</cp:revision>
  <dcterms:created xsi:type="dcterms:W3CDTF">2026-09-07T10:12:41Z</dcterms:created>
  <dcterms:modified xsi:type="dcterms:W3CDTF">2026-09-11T05:39:40Z</dcterms:modified>
</cp:coreProperties>
</file>